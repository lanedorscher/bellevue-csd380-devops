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4660"/>
  </p:normalViewPr>
  <p:slideViewPr>
    <p:cSldViewPr snapToGrid="0">
      <p:cViewPr varScale="1">
        <p:scale>
          <a:sx n="77" d="100"/>
          <a:sy n="77" d="100"/>
        </p:scale>
        <p:origin x="8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Tree>
    <p:extLst>
      <p:ext uri="{BB962C8B-B14F-4D97-AF65-F5344CB8AC3E}">
        <p14:creationId xmlns:p14="http://schemas.microsoft.com/office/powerpoint/2010/main" val="3184761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724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6ADACF4-C9E9-469D-838E-FF98F4597611}" type="slidenum">
              <a:rPr lang="en-US" smtClean="0"/>
              <a:t>‹#›</a:t>
            </a:fld>
            <a:endParaRPr lang="en-US"/>
          </a:p>
        </p:txBody>
      </p:sp>
    </p:spTree>
    <p:extLst>
      <p:ext uri="{BB962C8B-B14F-4D97-AF65-F5344CB8AC3E}">
        <p14:creationId xmlns:p14="http://schemas.microsoft.com/office/powerpoint/2010/main" val="2132977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86ADACF4-C9E9-469D-838E-FF98F4597611}" type="slidenum">
              <a:rPr lang="en-US" smtClean="0"/>
              <a:t>‹#›</a:t>
            </a:fld>
            <a:endParaRPr lang="en-US"/>
          </a:p>
        </p:txBody>
      </p:sp>
    </p:spTree>
    <p:extLst>
      <p:ext uri="{BB962C8B-B14F-4D97-AF65-F5344CB8AC3E}">
        <p14:creationId xmlns:p14="http://schemas.microsoft.com/office/powerpoint/2010/main" val="2898324550"/>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6ADACF4-C9E9-469D-838E-FF98F4597611}" type="slidenum">
              <a:rPr lang="en-US" smtClean="0"/>
              <a:t>‹#›</a:t>
            </a:fld>
            <a:endParaRPr lang="en-US"/>
          </a:p>
        </p:txBody>
      </p:sp>
    </p:spTree>
    <p:extLst>
      <p:ext uri="{BB962C8B-B14F-4D97-AF65-F5344CB8AC3E}">
        <p14:creationId xmlns:p14="http://schemas.microsoft.com/office/powerpoint/2010/main" val="902535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35961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6ADACF4-C9E9-469D-838E-FF98F4597611}"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2148248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6ADACF4-C9E9-469D-838E-FF98F4597611}"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213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6ADACF4-C9E9-469D-838E-FF98F4597611}"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9852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7779E7FB-37AA-4DC9-8D7B-85CE00D67236}"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6ADACF4-C9E9-469D-838E-FF98F4597611}"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077760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7779E7FB-37AA-4DC9-8D7B-85CE00D67236}"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6ADACF4-C9E9-469D-838E-FF98F459761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09291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7779E7FB-37AA-4DC9-8D7B-85CE00D67236}"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6ADACF4-C9E9-469D-838E-FF98F4597611}"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721281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7779E7FB-37AA-4DC9-8D7B-85CE00D67236}"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6ADACF4-C9E9-469D-838E-FF98F4597611}"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13675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7779E7FB-37AA-4DC9-8D7B-85CE00D67236}"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6ADACF4-C9E9-469D-838E-FF98F459761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660803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7779E7FB-37AA-4DC9-8D7B-85CE00D67236}"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6ADACF4-C9E9-469D-838E-FF98F4597611}"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21923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7779E7FB-37AA-4DC9-8D7B-85CE00D67236}"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6ADACF4-C9E9-469D-838E-FF98F4597611}"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2078344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7779E7FB-37AA-4DC9-8D7B-85CE00D67236}"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6ADACF4-C9E9-469D-838E-FF98F4597611}"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94599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7779E7FB-37AA-4DC9-8D7B-85CE00D67236}"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6ADACF4-C9E9-469D-838E-FF98F4597611}"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85093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3595739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523694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6220201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67400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17719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Tree>
    <p:extLst>
      <p:ext uri="{BB962C8B-B14F-4D97-AF65-F5344CB8AC3E}">
        <p14:creationId xmlns:p14="http://schemas.microsoft.com/office/powerpoint/2010/main" val="38301312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Tree>
    <p:extLst>
      <p:ext uri="{BB962C8B-B14F-4D97-AF65-F5344CB8AC3E}">
        <p14:creationId xmlns:p14="http://schemas.microsoft.com/office/powerpoint/2010/main" val="2265925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29537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779E7FB-37AA-4DC9-8D7B-85CE00D67236}" type="datetimeFigureOut">
              <a:rPr lang="en-US" smtClean="0"/>
              <a:t>9/12/2026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6ADACF4-C9E9-469D-838E-FF98F4597611}" type="slidenum">
              <a:rPr lang="en-US" smtClean="0"/>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6922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7779E7FB-37AA-4DC9-8D7B-85CE00D67236}" type="datetimeFigureOut">
              <a:rPr lang="en-US" smtClean="0"/>
              <a:t>9/12/2026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6ADACF4-C9E9-469D-838E-FF98F4597611}" type="slidenum">
              <a:rPr lang="en-US" smtClean="0"/>
              <a:t>‹#›</a:t>
            </a:fld>
            <a:endParaRPr lang="en-US"/>
          </a:p>
        </p:txBody>
      </p:sp>
    </p:spTree>
    <p:extLst>
      <p:ext uri="{BB962C8B-B14F-4D97-AF65-F5344CB8AC3E}">
        <p14:creationId xmlns:p14="http://schemas.microsoft.com/office/powerpoint/2010/main" val="19910682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271EF-D716-62C8-52B4-713180C49DE6}"/>
              </a:ext>
            </a:extLst>
          </p:cNvPr>
          <p:cNvSpPr>
            <a:spLocks noGrp="1"/>
          </p:cNvSpPr>
          <p:nvPr>
            <p:ph type="ctrTitle"/>
          </p:nvPr>
        </p:nvSpPr>
        <p:spPr/>
        <p:txBody>
          <a:bodyPr/>
          <a:lstStyle/>
          <a:p>
            <a:r>
              <a:rPr lang="en-US" dirty="0"/>
              <a:t>The Technology Value Stream</a:t>
            </a:r>
          </a:p>
        </p:txBody>
      </p:sp>
      <p:sp>
        <p:nvSpPr>
          <p:cNvPr id="3" name="Subtitle 2">
            <a:extLst>
              <a:ext uri="{FF2B5EF4-FFF2-40B4-BE49-F238E27FC236}">
                <a16:creationId xmlns:a16="http://schemas.microsoft.com/office/drawing/2014/main" id="{34DA64CC-3055-2BF2-65AA-92273C0ED5F8}"/>
              </a:ext>
            </a:extLst>
          </p:cNvPr>
          <p:cNvSpPr>
            <a:spLocks noGrp="1"/>
          </p:cNvSpPr>
          <p:nvPr>
            <p:ph type="subTitle" idx="1"/>
          </p:nvPr>
        </p:nvSpPr>
        <p:spPr/>
        <p:txBody>
          <a:bodyPr>
            <a:normAutofit fontScale="92500" lnSpcReduction="10000"/>
          </a:bodyPr>
          <a:lstStyle/>
          <a:p>
            <a:r>
              <a:rPr lang="en-US" dirty="0"/>
              <a:t>Understanding how software moves from an idea to the customer</a:t>
            </a:r>
          </a:p>
          <a:p>
            <a:endParaRPr lang="en-US" dirty="0"/>
          </a:p>
          <a:p>
            <a:pPr algn="l"/>
            <a:r>
              <a:rPr lang="en-US" dirty="0"/>
              <a:t>Lane Dorscher</a:t>
            </a:r>
            <a:br>
              <a:rPr lang="en-US" dirty="0"/>
            </a:br>
            <a:r>
              <a:rPr lang="en-US" dirty="0"/>
              <a:t>CS380 - DevOps</a:t>
            </a:r>
          </a:p>
        </p:txBody>
      </p:sp>
    </p:spTree>
    <p:extLst>
      <p:ext uri="{BB962C8B-B14F-4D97-AF65-F5344CB8AC3E}">
        <p14:creationId xmlns:p14="http://schemas.microsoft.com/office/powerpoint/2010/main" val="188280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1408D-7EBC-3FF6-EEBE-EE62F7435BB8}"/>
              </a:ext>
            </a:extLst>
          </p:cNvPr>
          <p:cNvSpPr>
            <a:spLocks noGrp="1"/>
          </p:cNvSpPr>
          <p:nvPr>
            <p:ph type="title"/>
          </p:nvPr>
        </p:nvSpPr>
        <p:spPr/>
        <p:txBody>
          <a:bodyPr/>
          <a:lstStyle/>
          <a:p>
            <a:r>
              <a:rPr lang="en-US" dirty="0"/>
              <a:t>What is the Technology Value Stream</a:t>
            </a:r>
          </a:p>
        </p:txBody>
      </p:sp>
      <p:sp>
        <p:nvSpPr>
          <p:cNvPr id="3" name="Content Placeholder 2">
            <a:extLst>
              <a:ext uri="{FF2B5EF4-FFF2-40B4-BE49-F238E27FC236}">
                <a16:creationId xmlns:a16="http://schemas.microsoft.com/office/drawing/2014/main" id="{C2194FF5-A125-BAE6-EC6B-387FFBBA51D2}"/>
              </a:ext>
            </a:extLst>
          </p:cNvPr>
          <p:cNvSpPr>
            <a:spLocks noGrp="1"/>
          </p:cNvSpPr>
          <p:nvPr>
            <p:ph idx="1"/>
          </p:nvPr>
        </p:nvSpPr>
        <p:spPr>
          <a:xfrm>
            <a:off x="838200" y="1825625"/>
            <a:ext cx="10515600" cy="2547592"/>
          </a:xfrm>
        </p:spPr>
        <p:txBody>
          <a:bodyPr>
            <a:normAutofit/>
          </a:bodyPr>
          <a:lstStyle/>
          <a:p>
            <a:pPr lvl="0"/>
            <a:r>
              <a:rPr lang="en-US" sz="1800" dirty="0"/>
              <a:t>The entire path a feature takes from an idea to something the customer can actually use. </a:t>
            </a:r>
          </a:p>
          <a:p>
            <a:pPr lvl="0"/>
            <a:r>
              <a:rPr lang="en-US" sz="1800" dirty="0"/>
              <a:t>A feature does not provide value simply because it was developed. It must be integrated, tested, deployed, and ultimately used by the customer. </a:t>
            </a:r>
          </a:p>
          <a:p>
            <a:pPr lvl="0"/>
            <a:r>
              <a:rPr lang="en-US" sz="1800" dirty="0"/>
              <a:t>Customer feedback can start the process again, creating new needs and influencing future development.</a:t>
            </a:r>
          </a:p>
        </p:txBody>
      </p:sp>
      <p:grpSp>
        <p:nvGrpSpPr>
          <p:cNvPr id="22" name="Group 21">
            <a:extLst>
              <a:ext uri="{FF2B5EF4-FFF2-40B4-BE49-F238E27FC236}">
                <a16:creationId xmlns:a16="http://schemas.microsoft.com/office/drawing/2014/main" id="{4AB1ADE8-ABB1-F490-797C-0CE118341AE6}"/>
              </a:ext>
            </a:extLst>
          </p:cNvPr>
          <p:cNvGrpSpPr/>
          <p:nvPr/>
        </p:nvGrpSpPr>
        <p:grpSpPr>
          <a:xfrm>
            <a:off x="1321490" y="4750903"/>
            <a:ext cx="9549020" cy="1490873"/>
            <a:chOff x="1138030" y="3220277"/>
            <a:chExt cx="9549020" cy="1490873"/>
          </a:xfrm>
        </p:grpSpPr>
        <p:sp>
          <p:nvSpPr>
            <p:cNvPr id="4" name="Arrow: Right 3">
              <a:extLst>
                <a:ext uri="{FF2B5EF4-FFF2-40B4-BE49-F238E27FC236}">
                  <a16:creationId xmlns:a16="http://schemas.microsoft.com/office/drawing/2014/main" id="{E0A5D800-7816-336F-576D-32D7560EB3D5}"/>
                </a:ext>
              </a:extLst>
            </p:cNvPr>
            <p:cNvSpPr/>
            <p:nvPr/>
          </p:nvSpPr>
          <p:spPr>
            <a:xfrm>
              <a:off x="1143000" y="3220278"/>
              <a:ext cx="2295939" cy="7056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Business Need</a:t>
              </a:r>
            </a:p>
          </p:txBody>
        </p:sp>
        <p:sp>
          <p:nvSpPr>
            <p:cNvPr id="6" name="Arrow: Right 5">
              <a:extLst>
                <a:ext uri="{FF2B5EF4-FFF2-40B4-BE49-F238E27FC236}">
                  <a16:creationId xmlns:a16="http://schemas.microsoft.com/office/drawing/2014/main" id="{E6C7CC44-4401-23BD-B2E8-137E882EF56F}"/>
                </a:ext>
              </a:extLst>
            </p:cNvPr>
            <p:cNvSpPr/>
            <p:nvPr/>
          </p:nvSpPr>
          <p:spPr>
            <a:xfrm>
              <a:off x="3438939" y="3220277"/>
              <a:ext cx="2295939" cy="7056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a:t>
              </a:r>
            </a:p>
          </p:txBody>
        </p:sp>
        <p:sp>
          <p:nvSpPr>
            <p:cNvPr id="8" name="Arrow: Right 7">
              <a:extLst>
                <a:ext uri="{FF2B5EF4-FFF2-40B4-BE49-F238E27FC236}">
                  <a16:creationId xmlns:a16="http://schemas.microsoft.com/office/drawing/2014/main" id="{C5F89115-9B7D-3392-4F98-ABA7A12850B7}"/>
                </a:ext>
              </a:extLst>
            </p:cNvPr>
            <p:cNvSpPr/>
            <p:nvPr/>
          </p:nvSpPr>
          <p:spPr>
            <a:xfrm>
              <a:off x="5734878" y="3220277"/>
              <a:ext cx="2295939" cy="7056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Develop</a:t>
              </a:r>
            </a:p>
          </p:txBody>
        </p:sp>
        <p:sp>
          <p:nvSpPr>
            <p:cNvPr id="11" name="Arrow: Bent-Up 10">
              <a:extLst>
                <a:ext uri="{FF2B5EF4-FFF2-40B4-BE49-F238E27FC236}">
                  <a16:creationId xmlns:a16="http://schemas.microsoft.com/office/drawing/2014/main" id="{44BAAC63-41FD-97FD-2448-4A56BCB3FA11}"/>
                </a:ext>
              </a:extLst>
            </p:cNvPr>
            <p:cNvSpPr/>
            <p:nvPr/>
          </p:nvSpPr>
          <p:spPr>
            <a:xfrm rot="5400000" flipV="1">
              <a:off x="8695893" y="2719991"/>
              <a:ext cx="1326081" cy="265623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Arrow: Right 12">
              <a:extLst>
                <a:ext uri="{FF2B5EF4-FFF2-40B4-BE49-F238E27FC236}">
                  <a16:creationId xmlns:a16="http://schemas.microsoft.com/office/drawing/2014/main" id="{40B23112-3DE9-3ECB-E0FB-01D421BAFB32}"/>
                </a:ext>
              </a:extLst>
            </p:cNvPr>
            <p:cNvSpPr/>
            <p:nvPr/>
          </p:nvSpPr>
          <p:spPr>
            <a:xfrm>
              <a:off x="8030817" y="3229458"/>
              <a:ext cx="2295939" cy="7056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Integrate</a:t>
              </a:r>
            </a:p>
          </p:txBody>
        </p:sp>
        <p:sp>
          <p:nvSpPr>
            <p:cNvPr id="14" name="TextBox 13">
              <a:extLst>
                <a:ext uri="{FF2B5EF4-FFF2-40B4-BE49-F238E27FC236}">
                  <a16:creationId xmlns:a16="http://schemas.microsoft.com/office/drawing/2014/main" id="{7AB25A4B-AAF0-0A07-0BFD-6AE1C809463E}"/>
                </a:ext>
              </a:extLst>
            </p:cNvPr>
            <p:cNvSpPr txBox="1"/>
            <p:nvPr/>
          </p:nvSpPr>
          <p:spPr>
            <a:xfrm>
              <a:off x="8479320" y="4208429"/>
              <a:ext cx="175922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rPr>
                <a:t>Test</a:t>
              </a:r>
            </a:p>
          </p:txBody>
        </p:sp>
        <p:sp>
          <p:nvSpPr>
            <p:cNvPr id="16" name="Arrow: Left 15">
              <a:extLst>
                <a:ext uri="{FF2B5EF4-FFF2-40B4-BE49-F238E27FC236}">
                  <a16:creationId xmlns:a16="http://schemas.microsoft.com/office/drawing/2014/main" id="{A657D705-0767-DC0E-9A93-F4F68BD852D2}"/>
                </a:ext>
              </a:extLst>
            </p:cNvPr>
            <p:cNvSpPr/>
            <p:nvPr/>
          </p:nvSpPr>
          <p:spPr>
            <a:xfrm>
              <a:off x="5734878" y="4001294"/>
              <a:ext cx="2295939" cy="70985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Deploy</a:t>
              </a:r>
            </a:p>
          </p:txBody>
        </p:sp>
        <p:sp>
          <p:nvSpPr>
            <p:cNvPr id="18" name="Arrow: Left 17">
              <a:extLst>
                <a:ext uri="{FF2B5EF4-FFF2-40B4-BE49-F238E27FC236}">
                  <a16:creationId xmlns:a16="http://schemas.microsoft.com/office/drawing/2014/main" id="{EB34E733-D775-CE6F-2633-2A6D9BC12D9C}"/>
                </a:ext>
              </a:extLst>
            </p:cNvPr>
            <p:cNvSpPr/>
            <p:nvPr/>
          </p:nvSpPr>
          <p:spPr>
            <a:xfrm>
              <a:off x="3438939" y="4001292"/>
              <a:ext cx="2295939" cy="70985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Customer</a:t>
              </a:r>
            </a:p>
          </p:txBody>
        </p:sp>
        <p:sp>
          <p:nvSpPr>
            <p:cNvPr id="20" name="Arrow: Bent-Up 19">
              <a:extLst>
                <a:ext uri="{FF2B5EF4-FFF2-40B4-BE49-F238E27FC236}">
                  <a16:creationId xmlns:a16="http://schemas.microsoft.com/office/drawing/2014/main" id="{D4AA46CF-349E-31BD-8E55-67F51491FA86}"/>
                </a:ext>
              </a:extLst>
            </p:cNvPr>
            <p:cNvSpPr/>
            <p:nvPr/>
          </p:nvSpPr>
          <p:spPr>
            <a:xfrm rot="10800000" flipV="1">
              <a:off x="1138030" y="3808530"/>
              <a:ext cx="2295940" cy="709856"/>
            </a:xfrm>
            <a:prstGeom prst="bentUpArrow">
              <a:avLst>
                <a:gd name="adj1" fmla="val 48803"/>
                <a:gd name="adj2" fmla="val 43902"/>
                <a:gd name="adj3" fmla="val 3480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Feedback</a:t>
              </a:r>
            </a:p>
          </p:txBody>
        </p:sp>
      </p:grpSp>
      <p:sp>
        <p:nvSpPr>
          <p:cNvPr id="24" name="TextBox 23">
            <a:extLst>
              <a:ext uri="{FF2B5EF4-FFF2-40B4-BE49-F238E27FC236}">
                <a16:creationId xmlns:a16="http://schemas.microsoft.com/office/drawing/2014/main" id="{F0BEAE85-F2E4-60C0-E829-3121F5CB7124}"/>
              </a:ext>
            </a:extLst>
          </p:cNvPr>
          <p:cNvSpPr txBox="1"/>
          <p:nvPr/>
        </p:nvSpPr>
        <p:spPr>
          <a:xfrm>
            <a:off x="9209018" y="6488668"/>
            <a:ext cx="3047172" cy="369332"/>
          </a:xfrm>
          <a:prstGeom prst="rect">
            <a:avLst/>
          </a:prstGeom>
          <a:noFill/>
        </p:spPr>
        <p:txBody>
          <a:bodyPr wrap="square">
            <a:spAutoFit/>
          </a:bodyPr>
          <a:lstStyle/>
          <a:p>
            <a:r>
              <a:rPr lang="en-US" dirty="0"/>
              <a:t>(Kim et al., 2021)</a:t>
            </a:r>
          </a:p>
        </p:txBody>
      </p:sp>
    </p:spTree>
    <p:extLst>
      <p:ext uri="{BB962C8B-B14F-4D97-AF65-F5344CB8AC3E}">
        <p14:creationId xmlns:p14="http://schemas.microsoft.com/office/powerpoint/2010/main" val="902260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5698C-7EEC-ADD2-46E7-10CA383ED51F}"/>
              </a:ext>
            </a:extLst>
          </p:cNvPr>
          <p:cNvSpPr>
            <a:spLocks noGrp="1"/>
          </p:cNvSpPr>
          <p:nvPr>
            <p:ph type="title"/>
          </p:nvPr>
        </p:nvSpPr>
        <p:spPr/>
        <p:txBody>
          <a:bodyPr/>
          <a:lstStyle/>
          <a:p>
            <a:r>
              <a:rPr lang="en-US" dirty="0"/>
              <a:t>Lead Time vs. Processing Time</a:t>
            </a:r>
          </a:p>
        </p:txBody>
      </p:sp>
      <p:sp>
        <p:nvSpPr>
          <p:cNvPr id="3" name="Content Placeholder 2">
            <a:extLst>
              <a:ext uri="{FF2B5EF4-FFF2-40B4-BE49-F238E27FC236}">
                <a16:creationId xmlns:a16="http://schemas.microsoft.com/office/drawing/2014/main" id="{BA8B47B4-FECD-0A30-0B43-AD14A56560AD}"/>
              </a:ext>
            </a:extLst>
          </p:cNvPr>
          <p:cNvSpPr>
            <a:spLocks noGrp="1"/>
          </p:cNvSpPr>
          <p:nvPr>
            <p:ph idx="1"/>
          </p:nvPr>
        </p:nvSpPr>
        <p:spPr/>
        <p:txBody>
          <a:bodyPr/>
          <a:lstStyle/>
          <a:p>
            <a:r>
              <a:rPr lang="en-US" b="1" dirty="0"/>
              <a:t>Lead Time</a:t>
            </a:r>
            <a:endParaRPr lang="en-US" dirty="0"/>
          </a:p>
          <a:p>
            <a:pPr marL="285750" lvl="0" indent="-285750">
              <a:buFont typeface="Arial" panose="020B0604020202020204" pitchFamily="34" charset="0"/>
              <a:buChar char="•"/>
            </a:pPr>
            <a:r>
              <a:rPr lang="en-US" dirty="0"/>
              <a:t>The total time from when a request is made until the work is completed. </a:t>
            </a:r>
          </a:p>
          <a:p>
            <a:pPr marL="285750" lvl="0" indent="-285750">
              <a:buFont typeface="Arial" panose="020B0604020202020204" pitchFamily="34" charset="0"/>
              <a:buChar char="•"/>
            </a:pPr>
            <a:r>
              <a:rPr lang="en-US" dirty="0"/>
              <a:t>Includes both </a:t>
            </a:r>
            <a:r>
              <a:rPr lang="en-US" b="1" dirty="0"/>
              <a:t>waiting time and active work</a:t>
            </a:r>
            <a:r>
              <a:rPr lang="en-US" dirty="0"/>
              <a:t>. </a:t>
            </a:r>
          </a:p>
          <a:p>
            <a:r>
              <a:rPr lang="en-US" b="1" dirty="0"/>
              <a:t>Processing Time</a:t>
            </a:r>
            <a:endParaRPr lang="en-US" dirty="0"/>
          </a:p>
          <a:p>
            <a:pPr marL="285750" lvl="0" indent="-285750">
              <a:buFont typeface="Arial" panose="020B0604020202020204" pitchFamily="34" charset="0"/>
              <a:buChar char="•"/>
            </a:pPr>
            <a:r>
              <a:rPr lang="en-US" dirty="0"/>
              <a:t>The amount of time the work is </a:t>
            </a:r>
            <a:r>
              <a:rPr lang="en-US" b="1" dirty="0"/>
              <a:t>actively being worked on</a:t>
            </a:r>
            <a:r>
              <a:rPr lang="en-US" dirty="0"/>
              <a:t>. </a:t>
            </a:r>
          </a:p>
          <a:p>
            <a:pPr marL="285750" lvl="0" indent="-285750">
              <a:buFont typeface="Arial" panose="020B0604020202020204" pitchFamily="34" charset="0"/>
              <a:buChar char="•"/>
            </a:pPr>
            <a:r>
              <a:rPr lang="en-US" dirty="0"/>
              <a:t>Does not include time spent waiting in a queue.</a:t>
            </a:r>
          </a:p>
          <a:p>
            <a:r>
              <a:rPr lang="en-US" b="1" dirty="0"/>
              <a:t>Why it matters</a:t>
            </a:r>
            <a:endParaRPr lang="en-US" dirty="0"/>
          </a:p>
          <a:p>
            <a:pPr marL="285750" lvl="0" indent="-285750">
              <a:buFont typeface="Arial" panose="020B0604020202020204" pitchFamily="34" charset="0"/>
              <a:buChar char="•"/>
            </a:pPr>
            <a:r>
              <a:rPr lang="en-US" dirty="0"/>
              <a:t>A task may require only a few hours of actual work but take days or weeks to reach the customer. </a:t>
            </a:r>
          </a:p>
          <a:p>
            <a:endParaRPr lang="en-US" dirty="0"/>
          </a:p>
        </p:txBody>
      </p:sp>
      <p:sp>
        <p:nvSpPr>
          <p:cNvPr id="5" name="TextBox 4">
            <a:extLst>
              <a:ext uri="{FF2B5EF4-FFF2-40B4-BE49-F238E27FC236}">
                <a16:creationId xmlns:a16="http://schemas.microsoft.com/office/drawing/2014/main" id="{2E34BF01-0117-E2A0-9769-A71A100B194F}"/>
              </a:ext>
            </a:extLst>
          </p:cNvPr>
          <p:cNvSpPr txBox="1"/>
          <p:nvPr/>
        </p:nvSpPr>
        <p:spPr>
          <a:xfrm>
            <a:off x="10371826" y="6477072"/>
            <a:ext cx="1831285" cy="369332"/>
          </a:xfrm>
          <a:prstGeom prst="rect">
            <a:avLst/>
          </a:prstGeom>
          <a:noFill/>
        </p:spPr>
        <p:txBody>
          <a:bodyPr wrap="square">
            <a:spAutoFit/>
          </a:bodyPr>
          <a:lstStyle/>
          <a:p>
            <a:r>
              <a:rPr lang="en-US" i="1" dirty="0"/>
              <a:t>(Kim et al., 2021)</a:t>
            </a:r>
            <a:endParaRPr lang="en-US" dirty="0"/>
          </a:p>
        </p:txBody>
      </p:sp>
      <p:grpSp>
        <p:nvGrpSpPr>
          <p:cNvPr id="17" name="Group 16">
            <a:extLst>
              <a:ext uri="{FF2B5EF4-FFF2-40B4-BE49-F238E27FC236}">
                <a16:creationId xmlns:a16="http://schemas.microsoft.com/office/drawing/2014/main" id="{9EECE0C1-69AA-E68C-3AA3-A8A4C75E5D8F}"/>
              </a:ext>
            </a:extLst>
          </p:cNvPr>
          <p:cNvGrpSpPr/>
          <p:nvPr/>
        </p:nvGrpSpPr>
        <p:grpSpPr>
          <a:xfrm>
            <a:off x="874643" y="5496339"/>
            <a:ext cx="8955157" cy="1086458"/>
            <a:chOff x="874643" y="5496339"/>
            <a:chExt cx="8955157" cy="1086458"/>
          </a:xfrm>
        </p:grpSpPr>
        <p:sp>
          <p:nvSpPr>
            <p:cNvPr id="6" name="Flowchart: Process 5">
              <a:extLst>
                <a:ext uri="{FF2B5EF4-FFF2-40B4-BE49-F238E27FC236}">
                  <a16:creationId xmlns:a16="http://schemas.microsoft.com/office/drawing/2014/main" id="{3BD05988-9C87-3660-F948-0693839A265A}"/>
                </a:ext>
              </a:extLst>
            </p:cNvPr>
            <p:cNvSpPr/>
            <p:nvPr/>
          </p:nvSpPr>
          <p:spPr>
            <a:xfrm>
              <a:off x="874643" y="5496339"/>
              <a:ext cx="8955157" cy="1086458"/>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Waiting                                               </a:t>
              </a:r>
              <a:r>
                <a:rPr lang="en-US" dirty="0" err="1"/>
                <a:t>Waiting</a:t>
              </a:r>
              <a:endParaRPr lang="en-US" dirty="0"/>
            </a:p>
          </p:txBody>
        </p:sp>
        <p:sp>
          <p:nvSpPr>
            <p:cNvPr id="7" name="Flowchart: Process 6">
              <a:extLst>
                <a:ext uri="{FF2B5EF4-FFF2-40B4-BE49-F238E27FC236}">
                  <a16:creationId xmlns:a16="http://schemas.microsoft.com/office/drawing/2014/main" id="{6CD7A722-0554-F63C-7E78-170A9E1EB8D6}"/>
                </a:ext>
              </a:extLst>
            </p:cNvPr>
            <p:cNvSpPr/>
            <p:nvPr/>
          </p:nvSpPr>
          <p:spPr>
            <a:xfrm>
              <a:off x="875957" y="6145119"/>
              <a:ext cx="1888434" cy="422633"/>
            </a:xfrm>
            <a:prstGeom prst="flowChartProcess">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Request</a:t>
              </a:r>
            </a:p>
          </p:txBody>
        </p:sp>
        <p:sp>
          <p:nvSpPr>
            <p:cNvPr id="9" name="Flowchart: Process 8">
              <a:extLst>
                <a:ext uri="{FF2B5EF4-FFF2-40B4-BE49-F238E27FC236}">
                  <a16:creationId xmlns:a16="http://schemas.microsoft.com/office/drawing/2014/main" id="{4B51EF8E-7C64-9391-1D5B-4EF5E56553EC}"/>
                </a:ext>
              </a:extLst>
            </p:cNvPr>
            <p:cNvSpPr/>
            <p:nvPr/>
          </p:nvSpPr>
          <p:spPr>
            <a:xfrm>
              <a:off x="7941366" y="6145119"/>
              <a:ext cx="1888434" cy="422633"/>
            </a:xfrm>
            <a:prstGeom prst="flowChartProcess">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Delivered</a:t>
              </a:r>
            </a:p>
          </p:txBody>
        </p:sp>
        <p:sp>
          <p:nvSpPr>
            <p:cNvPr id="11" name="Flowchart: Process 10">
              <a:extLst>
                <a:ext uri="{FF2B5EF4-FFF2-40B4-BE49-F238E27FC236}">
                  <a16:creationId xmlns:a16="http://schemas.microsoft.com/office/drawing/2014/main" id="{1EE5E966-97BA-C3C1-C0E0-7C1DC26CE7BF}"/>
                </a:ext>
              </a:extLst>
            </p:cNvPr>
            <p:cNvSpPr/>
            <p:nvPr/>
          </p:nvSpPr>
          <p:spPr>
            <a:xfrm>
              <a:off x="4306785" y="6145118"/>
              <a:ext cx="2092187" cy="422633"/>
            </a:xfrm>
            <a:prstGeom prst="flowChartProcess">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dirty="0"/>
                <a:t>Processing Time</a:t>
              </a:r>
            </a:p>
          </p:txBody>
        </p:sp>
        <p:sp>
          <p:nvSpPr>
            <p:cNvPr id="12" name="Flowchart: Process 11">
              <a:extLst>
                <a:ext uri="{FF2B5EF4-FFF2-40B4-BE49-F238E27FC236}">
                  <a16:creationId xmlns:a16="http://schemas.microsoft.com/office/drawing/2014/main" id="{B18FCA5E-D3E2-89E3-7B13-9F70F8EB2CA6}"/>
                </a:ext>
              </a:extLst>
            </p:cNvPr>
            <p:cNvSpPr/>
            <p:nvPr/>
          </p:nvSpPr>
          <p:spPr>
            <a:xfrm>
              <a:off x="874643" y="5501987"/>
              <a:ext cx="8955156" cy="326263"/>
            </a:xfrm>
            <a:prstGeom prst="flowChartProcess">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Total Lead Time</a:t>
              </a:r>
            </a:p>
          </p:txBody>
        </p:sp>
        <p:cxnSp>
          <p:nvCxnSpPr>
            <p:cNvPr id="14" name="Straight Arrow Connector 13">
              <a:extLst>
                <a:ext uri="{FF2B5EF4-FFF2-40B4-BE49-F238E27FC236}">
                  <a16:creationId xmlns:a16="http://schemas.microsoft.com/office/drawing/2014/main" id="{BDC1FEC6-29CE-FD74-41D4-85334FBBD7C0}"/>
                </a:ext>
              </a:extLst>
            </p:cNvPr>
            <p:cNvCxnSpPr>
              <a:cxnSpLocks/>
              <a:endCxn id="11" idx="1"/>
            </p:cNvCxnSpPr>
            <p:nvPr/>
          </p:nvCxnSpPr>
          <p:spPr>
            <a:xfrm>
              <a:off x="2764391" y="6356435"/>
              <a:ext cx="1542394"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a:extLst>
                <a:ext uri="{FF2B5EF4-FFF2-40B4-BE49-F238E27FC236}">
                  <a16:creationId xmlns:a16="http://schemas.microsoft.com/office/drawing/2014/main" id="{2B883BFC-11D6-C72F-D5B8-1633C516AE37}"/>
                </a:ext>
              </a:extLst>
            </p:cNvPr>
            <p:cNvCxnSpPr>
              <a:cxnSpLocks/>
            </p:cNvCxnSpPr>
            <p:nvPr/>
          </p:nvCxnSpPr>
          <p:spPr>
            <a:xfrm>
              <a:off x="6398972" y="6384956"/>
              <a:ext cx="1542394"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366711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57966-0303-B563-F462-0C1E0F4FB349}"/>
              </a:ext>
            </a:extLst>
          </p:cNvPr>
          <p:cNvSpPr>
            <a:spLocks noGrp="1"/>
          </p:cNvSpPr>
          <p:nvPr>
            <p:ph type="title"/>
          </p:nvPr>
        </p:nvSpPr>
        <p:spPr>
          <a:xfrm>
            <a:off x="429418" y="217217"/>
            <a:ext cx="9942409" cy="876193"/>
          </a:xfrm>
        </p:spPr>
        <p:txBody>
          <a:bodyPr/>
          <a:lstStyle/>
          <a:p>
            <a:r>
              <a:rPr lang="en-US" b="1" dirty="0"/>
              <a:t>Inside the Technology Value Stream – Business Need</a:t>
            </a:r>
            <a:endParaRPr lang="en-US" dirty="0"/>
          </a:p>
        </p:txBody>
      </p:sp>
      <p:sp>
        <p:nvSpPr>
          <p:cNvPr id="3" name="Content Placeholder 2">
            <a:extLst>
              <a:ext uri="{FF2B5EF4-FFF2-40B4-BE49-F238E27FC236}">
                <a16:creationId xmlns:a16="http://schemas.microsoft.com/office/drawing/2014/main" id="{02B94266-9883-F3B3-ACC5-8D2CF8649A42}"/>
              </a:ext>
            </a:extLst>
          </p:cNvPr>
          <p:cNvSpPr>
            <a:spLocks noGrp="1"/>
          </p:cNvSpPr>
          <p:nvPr>
            <p:ph idx="1"/>
          </p:nvPr>
        </p:nvSpPr>
        <p:spPr>
          <a:xfrm>
            <a:off x="429418" y="1540565"/>
            <a:ext cx="6130408" cy="3327733"/>
          </a:xfrm>
        </p:spPr>
        <p:txBody>
          <a:bodyPr>
            <a:normAutofit/>
          </a:bodyPr>
          <a:lstStyle/>
          <a:p>
            <a:r>
              <a:rPr lang="en-US" sz="1800" dirty="0"/>
              <a:t>A customer request cannot always be acted on immediately. The request first needs to be understood and assessed to determine risks, benefits, and potential impact on other systems.</a:t>
            </a:r>
          </a:p>
          <a:p>
            <a:r>
              <a:rPr lang="en-US" sz="1800" b="1" dirty="0"/>
              <a:t>Assessing the request is processing time. Waiting for the request to be assessed adds to lead time.</a:t>
            </a:r>
            <a:endParaRPr lang="en-US" sz="1800" dirty="0"/>
          </a:p>
          <a:p>
            <a:endParaRPr lang="en-US" sz="1800" dirty="0"/>
          </a:p>
        </p:txBody>
      </p:sp>
      <p:sp>
        <p:nvSpPr>
          <p:cNvPr id="4" name="Flowchart: Process 3">
            <a:extLst>
              <a:ext uri="{FF2B5EF4-FFF2-40B4-BE49-F238E27FC236}">
                <a16:creationId xmlns:a16="http://schemas.microsoft.com/office/drawing/2014/main" id="{E03D35FA-2175-B139-6E90-61761CEF84BA}"/>
              </a:ext>
            </a:extLst>
          </p:cNvPr>
          <p:cNvSpPr/>
          <p:nvPr/>
        </p:nvSpPr>
        <p:spPr>
          <a:xfrm>
            <a:off x="7513983" y="993914"/>
            <a:ext cx="4045226" cy="467118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Process 4">
            <a:extLst>
              <a:ext uri="{FF2B5EF4-FFF2-40B4-BE49-F238E27FC236}">
                <a16:creationId xmlns:a16="http://schemas.microsoft.com/office/drawing/2014/main" id="{C76B3420-98F7-829B-DC93-B650866495E2}"/>
              </a:ext>
            </a:extLst>
          </p:cNvPr>
          <p:cNvSpPr/>
          <p:nvPr/>
        </p:nvSpPr>
        <p:spPr>
          <a:xfrm>
            <a:off x="8143460" y="2166826"/>
            <a:ext cx="2829340" cy="774925"/>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Customer Ticket/Request</a:t>
            </a:r>
          </a:p>
        </p:txBody>
      </p:sp>
      <p:sp>
        <p:nvSpPr>
          <p:cNvPr id="15" name="Flowchart: Process 14">
            <a:extLst>
              <a:ext uri="{FF2B5EF4-FFF2-40B4-BE49-F238E27FC236}">
                <a16:creationId xmlns:a16="http://schemas.microsoft.com/office/drawing/2014/main" id="{C288BCEA-9F21-EB23-C771-38F77ECDC6B5}"/>
              </a:ext>
            </a:extLst>
          </p:cNvPr>
          <p:cNvSpPr/>
          <p:nvPr/>
        </p:nvSpPr>
        <p:spPr>
          <a:xfrm>
            <a:off x="8143460" y="3061461"/>
            <a:ext cx="2829340" cy="687240"/>
          </a:xfrm>
          <a:prstGeom prst="flowChartProcess">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a:t>Assessment of</a:t>
            </a:r>
            <a:br>
              <a:rPr lang="en-US" dirty="0"/>
            </a:br>
            <a:r>
              <a:rPr lang="en-US" dirty="0"/>
              <a:t> the request</a:t>
            </a:r>
          </a:p>
        </p:txBody>
      </p:sp>
      <p:sp>
        <p:nvSpPr>
          <p:cNvPr id="17" name="Flowchart: Process 16">
            <a:extLst>
              <a:ext uri="{FF2B5EF4-FFF2-40B4-BE49-F238E27FC236}">
                <a16:creationId xmlns:a16="http://schemas.microsoft.com/office/drawing/2014/main" id="{0649C748-582C-649F-61A7-CFD7FDC3CA53}"/>
              </a:ext>
            </a:extLst>
          </p:cNvPr>
          <p:cNvSpPr/>
          <p:nvPr/>
        </p:nvSpPr>
        <p:spPr>
          <a:xfrm>
            <a:off x="8143460" y="3868411"/>
            <a:ext cx="2829340" cy="687240"/>
          </a:xfrm>
          <a:prstGeom prst="flowChartProcess">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a:t>Feature? Or Bug?</a:t>
            </a:r>
          </a:p>
        </p:txBody>
      </p:sp>
      <p:sp>
        <p:nvSpPr>
          <p:cNvPr id="19" name="Flowchart: Process 18">
            <a:extLst>
              <a:ext uri="{FF2B5EF4-FFF2-40B4-BE49-F238E27FC236}">
                <a16:creationId xmlns:a16="http://schemas.microsoft.com/office/drawing/2014/main" id="{E897C9F8-8FDD-144F-8A45-9068F62A1650}"/>
              </a:ext>
            </a:extLst>
          </p:cNvPr>
          <p:cNvSpPr/>
          <p:nvPr/>
        </p:nvSpPr>
        <p:spPr>
          <a:xfrm>
            <a:off x="8126895" y="4704668"/>
            <a:ext cx="2829340" cy="687240"/>
          </a:xfrm>
          <a:prstGeom prst="flowChart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Risks/Impacts?</a:t>
            </a:r>
          </a:p>
        </p:txBody>
      </p:sp>
      <p:sp>
        <p:nvSpPr>
          <p:cNvPr id="23" name="Flowchart: Process 22">
            <a:extLst>
              <a:ext uri="{FF2B5EF4-FFF2-40B4-BE49-F238E27FC236}">
                <a16:creationId xmlns:a16="http://schemas.microsoft.com/office/drawing/2014/main" id="{ED2BDB1B-858A-A0B4-4DF9-7EAEE5593D6E}"/>
              </a:ext>
            </a:extLst>
          </p:cNvPr>
          <p:cNvSpPr/>
          <p:nvPr/>
        </p:nvSpPr>
        <p:spPr>
          <a:xfrm>
            <a:off x="7513983" y="1192907"/>
            <a:ext cx="4045226" cy="774925"/>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Business Need</a:t>
            </a:r>
          </a:p>
        </p:txBody>
      </p:sp>
      <p:sp>
        <p:nvSpPr>
          <p:cNvPr id="25" name="TextBox 24">
            <a:extLst>
              <a:ext uri="{FF2B5EF4-FFF2-40B4-BE49-F238E27FC236}">
                <a16:creationId xmlns:a16="http://schemas.microsoft.com/office/drawing/2014/main" id="{AE3FDB5B-B1AC-D97F-7883-1401B806B7E1}"/>
              </a:ext>
            </a:extLst>
          </p:cNvPr>
          <p:cNvSpPr txBox="1"/>
          <p:nvPr/>
        </p:nvSpPr>
        <p:spPr>
          <a:xfrm>
            <a:off x="0" y="6456117"/>
            <a:ext cx="6097656" cy="369332"/>
          </a:xfrm>
          <a:prstGeom prst="rect">
            <a:avLst/>
          </a:prstGeom>
          <a:noFill/>
        </p:spPr>
        <p:txBody>
          <a:bodyPr wrap="square">
            <a:spAutoFit/>
          </a:bodyPr>
          <a:lstStyle/>
          <a:p>
            <a:r>
              <a:rPr lang="en-US" dirty="0"/>
              <a:t>(Kim et al., 2021)</a:t>
            </a:r>
          </a:p>
        </p:txBody>
      </p:sp>
    </p:spTree>
    <p:extLst>
      <p:ext uri="{BB962C8B-B14F-4D97-AF65-F5344CB8AC3E}">
        <p14:creationId xmlns:p14="http://schemas.microsoft.com/office/powerpoint/2010/main" val="866097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2691E-BFD9-9899-D803-A361150FB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E7818-B5CD-61EA-2899-94A6E091754E}"/>
              </a:ext>
            </a:extLst>
          </p:cNvPr>
          <p:cNvSpPr>
            <a:spLocks noGrp="1"/>
          </p:cNvSpPr>
          <p:nvPr>
            <p:ph type="title"/>
          </p:nvPr>
        </p:nvSpPr>
        <p:spPr>
          <a:xfrm>
            <a:off x="429418" y="217217"/>
            <a:ext cx="9942409" cy="876193"/>
          </a:xfrm>
        </p:spPr>
        <p:txBody>
          <a:bodyPr/>
          <a:lstStyle/>
          <a:p>
            <a:r>
              <a:rPr lang="en-US" b="1" dirty="0"/>
              <a:t>Inside the Technology Value Stream – Plan</a:t>
            </a:r>
            <a:endParaRPr lang="en-US" dirty="0"/>
          </a:p>
        </p:txBody>
      </p:sp>
      <p:sp>
        <p:nvSpPr>
          <p:cNvPr id="3" name="Content Placeholder 2">
            <a:extLst>
              <a:ext uri="{FF2B5EF4-FFF2-40B4-BE49-F238E27FC236}">
                <a16:creationId xmlns:a16="http://schemas.microsoft.com/office/drawing/2014/main" id="{E5E4F8D3-357F-906E-D283-5A63CCECE04B}"/>
              </a:ext>
            </a:extLst>
          </p:cNvPr>
          <p:cNvSpPr>
            <a:spLocks noGrp="1"/>
          </p:cNvSpPr>
          <p:nvPr>
            <p:ph idx="1"/>
          </p:nvPr>
        </p:nvSpPr>
        <p:spPr>
          <a:xfrm>
            <a:off x="429418" y="1540565"/>
            <a:ext cx="6130408" cy="3327733"/>
          </a:xfrm>
        </p:spPr>
        <p:txBody>
          <a:bodyPr>
            <a:normAutofit/>
          </a:bodyPr>
          <a:lstStyle/>
          <a:p>
            <a:r>
              <a:rPr lang="en-US" sz="1800" dirty="0"/>
              <a:t>Once a request is prioritized, the work needs to be planned before development begins. Requirements are clarified, dependencies are identified, and the work is scheduled.</a:t>
            </a:r>
          </a:p>
          <a:p>
            <a:r>
              <a:rPr lang="en-US" sz="1800" b="1" dirty="0"/>
              <a:t>Planning is processing time when the request is actively being worked on. Time spent waiting for resources, decisions, or an available developer increases lead time.</a:t>
            </a:r>
            <a:endParaRPr lang="en-US" sz="1800" dirty="0"/>
          </a:p>
        </p:txBody>
      </p:sp>
      <p:sp>
        <p:nvSpPr>
          <p:cNvPr id="4" name="Flowchart: Process 3">
            <a:extLst>
              <a:ext uri="{FF2B5EF4-FFF2-40B4-BE49-F238E27FC236}">
                <a16:creationId xmlns:a16="http://schemas.microsoft.com/office/drawing/2014/main" id="{F3C74669-A3D0-23F3-2461-674D83FF5533}"/>
              </a:ext>
            </a:extLst>
          </p:cNvPr>
          <p:cNvSpPr/>
          <p:nvPr/>
        </p:nvSpPr>
        <p:spPr>
          <a:xfrm>
            <a:off x="7513983" y="993913"/>
            <a:ext cx="4045226" cy="552615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Process 4">
            <a:extLst>
              <a:ext uri="{FF2B5EF4-FFF2-40B4-BE49-F238E27FC236}">
                <a16:creationId xmlns:a16="http://schemas.microsoft.com/office/drawing/2014/main" id="{26728A4B-8558-3BB4-DFE4-E2D9ADEF0ADB}"/>
              </a:ext>
            </a:extLst>
          </p:cNvPr>
          <p:cNvSpPr/>
          <p:nvPr/>
        </p:nvSpPr>
        <p:spPr>
          <a:xfrm>
            <a:off x="8143460" y="2166826"/>
            <a:ext cx="2829340" cy="774925"/>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Prioritized</a:t>
            </a:r>
          </a:p>
        </p:txBody>
      </p:sp>
      <p:sp>
        <p:nvSpPr>
          <p:cNvPr id="15" name="Flowchart: Process 14">
            <a:extLst>
              <a:ext uri="{FF2B5EF4-FFF2-40B4-BE49-F238E27FC236}">
                <a16:creationId xmlns:a16="http://schemas.microsoft.com/office/drawing/2014/main" id="{014910DF-B2F1-87B7-B810-8B6B75BE6D27}"/>
              </a:ext>
            </a:extLst>
          </p:cNvPr>
          <p:cNvSpPr/>
          <p:nvPr/>
        </p:nvSpPr>
        <p:spPr>
          <a:xfrm>
            <a:off x="8143460" y="3061461"/>
            <a:ext cx="2829340" cy="687240"/>
          </a:xfrm>
          <a:prstGeom prst="flowChartProcess">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a:t>Requirements</a:t>
            </a:r>
          </a:p>
        </p:txBody>
      </p:sp>
      <p:sp>
        <p:nvSpPr>
          <p:cNvPr id="17" name="Flowchart: Process 16">
            <a:extLst>
              <a:ext uri="{FF2B5EF4-FFF2-40B4-BE49-F238E27FC236}">
                <a16:creationId xmlns:a16="http://schemas.microsoft.com/office/drawing/2014/main" id="{0952AE35-79EB-DFE8-2597-8796E934D4FE}"/>
              </a:ext>
            </a:extLst>
          </p:cNvPr>
          <p:cNvSpPr/>
          <p:nvPr/>
        </p:nvSpPr>
        <p:spPr>
          <a:xfrm>
            <a:off x="8143460" y="3868411"/>
            <a:ext cx="2829340" cy="687240"/>
          </a:xfrm>
          <a:prstGeom prst="flowChartProcess">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a:t>Dependencies</a:t>
            </a:r>
          </a:p>
        </p:txBody>
      </p:sp>
      <p:sp>
        <p:nvSpPr>
          <p:cNvPr id="19" name="Flowchart: Process 18">
            <a:extLst>
              <a:ext uri="{FF2B5EF4-FFF2-40B4-BE49-F238E27FC236}">
                <a16:creationId xmlns:a16="http://schemas.microsoft.com/office/drawing/2014/main" id="{185D8859-D10E-86DE-A7C1-110C28D3FA74}"/>
              </a:ext>
            </a:extLst>
          </p:cNvPr>
          <p:cNvSpPr/>
          <p:nvPr/>
        </p:nvSpPr>
        <p:spPr>
          <a:xfrm>
            <a:off x="8126895" y="4704668"/>
            <a:ext cx="2829340" cy="687240"/>
          </a:xfrm>
          <a:prstGeom prst="flowChart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Schedule</a:t>
            </a:r>
          </a:p>
        </p:txBody>
      </p:sp>
      <p:sp>
        <p:nvSpPr>
          <p:cNvPr id="21" name="Flowchart: Process 20">
            <a:extLst>
              <a:ext uri="{FF2B5EF4-FFF2-40B4-BE49-F238E27FC236}">
                <a16:creationId xmlns:a16="http://schemas.microsoft.com/office/drawing/2014/main" id="{6E736F0A-7ECA-50E9-0BB6-7FDE1838D1C2}"/>
              </a:ext>
            </a:extLst>
          </p:cNvPr>
          <p:cNvSpPr/>
          <p:nvPr/>
        </p:nvSpPr>
        <p:spPr>
          <a:xfrm>
            <a:off x="8126895" y="5544595"/>
            <a:ext cx="2829340" cy="687240"/>
          </a:xfrm>
          <a:prstGeom prst="flowChartProcess">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Ready for Development</a:t>
            </a:r>
          </a:p>
        </p:txBody>
      </p:sp>
      <p:sp>
        <p:nvSpPr>
          <p:cNvPr id="23" name="Flowchart: Process 22">
            <a:extLst>
              <a:ext uri="{FF2B5EF4-FFF2-40B4-BE49-F238E27FC236}">
                <a16:creationId xmlns:a16="http://schemas.microsoft.com/office/drawing/2014/main" id="{3D4B1612-8F17-EF15-ABB9-A4247E17AD99}"/>
              </a:ext>
            </a:extLst>
          </p:cNvPr>
          <p:cNvSpPr/>
          <p:nvPr/>
        </p:nvSpPr>
        <p:spPr>
          <a:xfrm>
            <a:off x="7558709" y="1192907"/>
            <a:ext cx="3955774" cy="774925"/>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Plan</a:t>
            </a:r>
          </a:p>
        </p:txBody>
      </p:sp>
      <p:sp>
        <p:nvSpPr>
          <p:cNvPr id="25" name="TextBox 24">
            <a:extLst>
              <a:ext uri="{FF2B5EF4-FFF2-40B4-BE49-F238E27FC236}">
                <a16:creationId xmlns:a16="http://schemas.microsoft.com/office/drawing/2014/main" id="{C2ED12B7-F871-CE66-615B-F601A43AFEDB}"/>
              </a:ext>
            </a:extLst>
          </p:cNvPr>
          <p:cNvSpPr txBox="1"/>
          <p:nvPr/>
        </p:nvSpPr>
        <p:spPr>
          <a:xfrm>
            <a:off x="0" y="6456117"/>
            <a:ext cx="6097656" cy="369332"/>
          </a:xfrm>
          <a:prstGeom prst="rect">
            <a:avLst/>
          </a:prstGeom>
          <a:noFill/>
        </p:spPr>
        <p:txBody>
          <a:bodyPr wrap="square">
            <a:spAutoFit/>
          </a:bodyPr>
          <a:lstStyle/>
          <a:p>
            <a:r>
              <a:rPr lang="en-US" dirty="0"/>
              <a:t>(Kim et al., 2021)</a:t>
            </a:r>
          </a:p>
        </p:txBody>
      </p:sp>
    </p:spTree>
    <p:extLst>
      <p:ext uri="{BB962C8B-B14F-4D97-AF65-F5344CB8AC3E}">
        <p14:creationId xmlns:p14="http://schemas.microsoft.com/office/powerpoint/2010/main" val="3428581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5887F-3BF0-F7D9-71CF-F0C8DF0B2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C4AA0-EFA5-C3F5-483F-828A90285AF9}"/>
              </a:ext>
            </a:extLst>
          </p:cNvPr>
          <p:cNvSpPr>
            <a:spLocks noGrp="1"/>
          </p:cNvSpPr>
          <p:nvPr>
            <p:ph type="title"/>
          </p:nvPr>
        </p:nvSpPr>
        <p:spPr>
          <a:xfrm>
            <a:off x="429418" y="217217"/>
            <a:ext cx="9942409" cy="876193"/>
          </a:xfrm>
        </p:spPr>
        <p:txBody>
          <a:bodyPr/>
          <a:lstStyle/>
          <a:p>
            <a:r>
              <a:rPr lang="en-US" b="1" dirty="0"/>
              <a:t>Inside the Technology Value Stream – Develop</a:t>
            </a:r>
            <a:endParaRPr lang="en-US" dirty="0"/>
          </a:p>
        </p:txBody>
      </p:sp>
      <p:sp>
        <p:nvSpPr>
          <p:cNvPr id="3" name="Content Placeholder 2">
            <a:extLst>
              <a:ext uri="{FF2B5EF4-FFF2-40B4-BE49-F238E27FC236}">
                <a16:creationId xmlns:a16="http://schemas.microsoft.com/office/drawing/2014/main" id="{4C21E973-9E38-9967-970C-A0F3AB25682B}"/>
              </a:ext>
            </a:extLst>
          </p:cNvPr>
          <p:cNvSpPr>
            <a:spLocks noGrp="1"/>
          </p:cNvSpPr>
          <p:nvPr>
            <p:ph idx="1"/>
          </p:nvPr>
        </p:nvSpPr>
        <p:spPr>
          <a:xfrm>
            <a:off x="429418" y="1540565"/>
            <a:ext cx="6130408" cy="3327733"/>
          </a:xfrm>
        </p:spPr>
        <p:txBody>
          <a:bodyPr>
            <a:normAutofit/>
          </a:bodyPr>
          <a:lstStyle/>
          <a:p>
            <a:r>
              <a:rPr lang="en-US" sz="1800" b="1" dirty="0"/>
              <a:t>Development is where the planned solution becomes working software.</a:t>
            </a:r>
            <a:r>
              <a:rPr lang="en-US" sz="1800" dirty="0"/>
              <a:t> Code is written, reviewed, and tested against the requirements before it can move forward.</a:t>
            </a:r>
          </a:p>
          <a:p>
            <a:r>
              <a:rPr lang="en-US" sz="1800" dirty="0"/>
              <a:t>Most development activities are </a:t>
            </a:r>
            <a:r>
              <a:rPr lang="en-US" sz="1800" b="1" dirty="0"/>
              <a:t>processing time</a:t>
            </a:r>
            <a:r>
              <a:rPr lang="en-US" sz="1800" dirty="0"/>
              <a:t>, but work can still sit idle while waiting for reviews, answers to questions, dependencies, or other resources—adding to the total </a:t>
            </a:r>
            <a:r>
              <a:rPr lang="en-US" sz="1800" b="1" dirty="0"/>
              <a:t>lead time</a:t>
            </a:r>
            <a:r>
              <a:rPr lang="en-US" sz="1800" dirty="0"/>
              <a:t>.</a:t>
            </a:r>
          </a:p>
        </p:txBody>
      </p:sp>
      <p:sp>
        <p:nvSpPr>
          <p:cNvPr id="4" name="Flowchart: Process 3">
            <a:extLst>
              <a:ext uri="{FF2B5EF4-FFF2-40B4-BE49-F238E27FC236}">
                <a16:creationId xmlns:a16="http://schemas.microsoft.com/office/drawing/2014/main" id="{9D617350-E7A0-9552-1F8F-A8602EC7CEA2}"/>
              </a:ext>
            </a:extLst>
          </p:cNvPr>
          <p:cNvSpPr/>
          <p:nvPr/>
        </p:nvSpPr>
        <p:spPr>
          <a:xfrm>
            <a:off x="7513983" y="993914"/>
            <a:ext cx="4045226" cy="467118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Process 4">
            <a:extLst>
              <a:ext uri="{FF2B5EF4-FFF2-40B4-BE49-F238E27FC236}">
                <a16:creationId xmlns:a16="http://schemas.microsoft.com/office/drawing/2014/main" id="{540AC26A-DFB5-CC24-1DE6-FC38E936A309}"/>
              </a:ext>
            </a:extLst>
          </p:cNvPr>
          <p:cNvSpPr/>
          <p:nvPr/>
        </p:nvSpPr>
        <p:spPr>
          <a:xfrm>
            <a:off x="8143460" y="2166826"/>
            <a:ext cx="2829340" cy="774925"/>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Develop the change(s)</a:t>
            </a:r>
          </a:p>
        </p:txBody>
      </p:sp>
      <p:sp>
        <p:nvSpPr>
          <p:cNvPr id="15" name="Flowchart: Process 14">
            <a:extLst>
              <a:ext uri="{FF2B5EF4-FFF2-40B4-BE49-F238E27FC236}">
                <a16:creationId xmlns:a16="http://schemas.microsoft.com/office/drawing/2014/main" id="{71EDC68A-8FD0-E532-BA58-66123FB44774}"/>
              </a:ext>
            </a:extLst>
          </p:cNvPr>
          <p:cNvSpPr/>
          <p:nvPr/>
        </p:nvSpPr>
        <p:spPr>
          <a:xfrm>
            <a:off x="8143460" y="3061461"/>
            <a:ext cx="2829340" cy="687240"/>
          </a:xfrm>
          <a:prstGeom prst="flowChartProcess">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a:t>Developer testing</a:t>
            </a:r>
          </a:p>
        </p:txBody>
      </p:sp>
      <p:sp>
        <p:nvSpPr>
          <p:cNvPr id="17" name="Flowchart: Process 16">
            <a:extLst>
              <a:ext uri="{FF2B5EF4-FFF2-40B4-BE49-F238E27FC236}">
                <a16:creationId xmlns:a16="http://schemas.microsoft.com/office/drawing/2014/main" id="{9C4C9EE3-2D83-E9CA-8E55-F44279C4BBCA}"/>
              </a:ext>
            </a:extLst>
          </p:cNvPr>
          <p:cNvSpPr/>
          <p:nvPr/>
        </p:nvSpPr>
        <p:spPr>
          <a:xfrm>
            <a:off x="8143460" y="3868411"/>
            <a:ext cx="2829340" cy="687240"/>
          </a:xfrm>
          <a:prstGeom prst="flowChartProcess">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a:t>Review/Verify Work</a:t>
            </a:r>
          </a:p>
        </p:txBody>
      </p:sp>
      <p:sp>
        <p:nvSpPr>
          <p:cNvPr id="19" name="Flowchart: Process 18">
            <a:extLst>
              <a:ext uri="{FF2B5EF4-FFF2-40B4-BE49-F238E27FC236}">
                <a16:creationId xmlns:a16="http://schemas.microsoft.com/office/drawing/2014/main" id="{4686F6B8-609B-F87E-FE5B-34CF952FAE4A}"/>
              </a:ext>
            </a:extLst>
          </p:cNvPr>
          <p:cNvSpPr/>
          <p:nvPr/>
        </p:nvSpPr>
        <p:spPr>
          <a:xfrm>
            <a:off x="8126895" y="4704668"/>
            <a:ext cx="2829340" cy="687240"/>
          </a:xfrm>
          <a:prstGeom prst="flowChart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Ready for Integration</a:t>
            </a:r>
          </a:p>
        </p:txBody>
      </p:sp>
      <p:sp>
        <p:nvSpPr>
          <p:cNvPr id="23" name="Flowchart: Process 22">
            <a:extLst>
              <a:ext uri="{FF2B5EF4-FFF2-40B4-BE49-F238E27FC236}">
                <a16:creationId xmlns:a16="http://schemas.microsoft.com/office/drawing/2014/main" id="{EFF10437-B02B-220C-5767-6F8065ABEFD2}"/>
              </a:ext>
            </a:extLst>
          </p:cNvPr>
          <p:cNvSpPr/>
          <p:nvPr/>
        </p:nvSpPr>
        <p:spPr>
          <a:xfrm>
            <a:off x="7558709" y="1192907"/>
            <a:ext cx="3955774" cy="774925"/>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Develop</a:t>
            </a:r>
          </a:p>
        </p:txBody>
      </p:sp>
      <p:sp>
        <p:nvSpPr>
          <p:cNvPr id="25" name="TextBox 24">
            <a:extLst>
              <a:ext uri="{FF2B5EF4-FFF2-40B4-BE49-F238E27FC236}">
                <a16:creationId xmlns:a16="http://schemas.microsoft.com/office/drawing/2014/main" id="{80428BE5-BF4E-36DB-D8C6-D6506B31FC1C}"/>
              </a:ext>
            </a:extLst>
          </p:cNvPr>
          <p:cNvSpPr txBox="1"/>
          <p:nvPr/>
        </p:nvSpPr>
        <p:spPr>
          <a:xfrm>
            <a:off x="0" y="6456117"/>
            <a:ext cx="6097656" cy="369332"/>
          </a:xfrm>
          <a:prstGeom prst="rect">
            <a:avLst/>
          </a:prstGeom>
          <a:noFill/>
        </p:spPr>
        <p:txBody>
          <a:bodyPr wrap="square">
            <a:spAutoFit/>
          </a:bodyPr>
          <a:lstStyle/>
          <a:p>
            <a:r>
              <a:rPr lang="en-US" dirty="0"/>
              <a:t>(Kim et al., 2021)</a:t>
            </a:r>
          </a:p>
        </p:txBody>
      </p:sp>
    </p:spTree>
    <p:extLst>
      <p:ext uri="{BB962C8B-B14F-4D97-AF65-F5344CB8AC3E}">
        <p14:creationId xmlns:p14="http://schemas.microsoft.com/office/powerpoint/2010/main" val="3602919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9E1CC-1AF5-0C77-0C8D-649F43E10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D46EC-8853-0CE8-2465-A67BAB8FE91F}"/>
              </a:ext>
            </a:extLst>
          </p:cNvPr>
          <p:cNvSpPr>
            <a:spLocks noGrp="1"/>
          </p:cNvSpPr>
          <p:nvPr>
            <p:ph type="title"/>
          </p:nvPr>
        </p:nvSpPr>
        <p:spPr>
          <a:xfrm>
            <a:off x="429418" y="217217"/>
            <a:ext cx="11418025" cy="876193"/>
          </a:xfrm>
        </p:spPr>
        <p:txBody>
          <a:bodyPr/>
          <a:lstStyle/>
          <a:p>
            <a:r>
              <a:rPr lang="en-US" b="1" dirty="0"/>
              <a:t>Inside the Technology Value Stream – Integrate and Testing</a:t>
            </a:r>
            <a:endParaRPr lang="en-US" dirty="0"/>
          </a:p>
        </p:txBody>
      </p:sp>
      <p:sp>
        <p:nvSpPr>
          <p:cNvPr id="3" name="Content Placeholder 2">
            <a:extLst>
              <a:ext uri="{FF2B5EF4-FFF2-40B4-BE49-F238E27FC236}">
                <a16:creationId xmlns:a16="http://schemas.microsoft.com/office/drawing/2014/main" id="{2D65FBE0-2711-FB03-2A1D-60B68AAF7D88}"/>
              </a:ext>
            </a:extLst>
          </p:cNvPr>
          <p:cNvSpPr>
            <a:spLocks noGrp="1"/>
          </p:cNvSpPr>
          <p:nvPr>
            <p:ph idx="1"/>
          </p:nvPr>
        </p:nvSpPr>
        <p:spPr>
          <a:xfrm>
            <a:off x="429418" y="1540565"/>
            <a:ext cx="6130408" cy="3327733"/>
          </a:xfrm>
        </p:spPr>
        <p:txBody>
          <a:bodyPr>
            <a:normAutofit/>
          </a:bodyPr>
          <a:lstStyle/>
          <a:p>
            <a:r>
              <a:rPr lang="en-US" sz="1800" b="1" dirty="0"/>
              <a:t>Working on its own does not mean a feature is ready for the customer.</a:t>
            </a:r>
            <a:r>
              <a:rPr lang="en-US" sz="1800" dirty="0"/>
              <a:t> The change must work correctly with the rest of the system and meet its requirements.</a:t>
            </a:r>
          </a:p>
          <a:p>
            <a:r>
              <a:rPr lang="en-US" sz="1800" dirty="0"/>
              <a:t>Integration and testing are </a:t>
            </a:r>
            <a:r>
              <a:rPr lang="en-US" sz="1800" b="1" dirty="0"/>
              <a:t>processing time</a:t>
            </a:r>
            <a:r>
              <a:rPr lang="en-US" sz="1800" dirty="0"/>
              <a:t> while work is actively being performed. Waiting for testing, environments, fixes, or other systems adds to the total </a:t>
            </a:r>
            <a:r>
              <a:rPr lang="en-US" sz="1800" b="1" dirty="0"/>
              <a:t>lead time</a:t>
            </a:r>
            <a:r>
              <a:rPr lang="en-US" sz="1800" dirty="0"/>
              <a:t>.</a:t>
            </a:r>
          </a:p>
        </p:txBody>
      </p:sp>
      <p:sp>
        <p:nvSpPr>
          <p:cNvPr id="4" name="Flowchart: Process 3">
            <a:extLst>
              <a:ext uri="{FF2B5EF4-FFF2-40B4-BE49-F238E27FC236}">
                <a16:creationId xmlns:a16="http://schemas.microsoft.com/office/drawing/2014/main" id="{D9306B9E-992D-49D3-7C77-475C87BF110B}"/>
              </a:ext>
            </a:extLst>
          </p:cNvPr>
          <p:cNvSpPr/>
          <p:nvPr/>
        </p:nvSpPr>
        <p:spPr>
          <a:xfrm>
            <a:off x="7513983" y="993913"/>
            <a:ext cx="4045226" cy="552615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Process 4">
            <a:extLst>
              <a:ext uri="{FF2B5EF4-FFF2-40B4-BE49-F238E27FC236}">
                <a16:creationId xmlns:a16="http://schemas.microsoft.com/office/drawing/2014/main" id="{61345C7C-7320-BCE1-F02A-74A7BD97C595}"/>
              </a:ext>
            </a:extLst>
          </p:cNvPr>
          <p:cNvSpPr/>
          <p:nvPr/>
        </p:nvSpPr>
        <p:spPr>
          <a:xfrm>
            <a:off x="8143460" y="2166826"/>
            <a:ext cx="2829340" cy="774925"/>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Integrate changes</a:t>
            </a:r>
          </a:p>
        </p:txBody>
      </p:sp>
      <p:sp>
        <p:nvSpPr>
          <p:cNvPr id="15" name="Flowchart: Process 14">
            <a:extLst>
              <a:ext uri="{FF2B5EF4-FFF2-40B4-BE49-F238E27FC236}">
                <a16:creationId xmlns:a16="http://schemas.microsoft.com/office/drawing/2014/main" id="{3805C2E2-FCAD-A7DF-AAC6-C43C60F0CE9B}"/>
              </a:ext>
            </a:extLst>
          </p:cNvPr>
          <p:cNvSpPr/>
          <p:nvPr/>
        </p:nvSpPr>
        <p:spPr>
          <a:xfrm>
            <a:off x="8143460" y="3061461"/>
            <a:ext cx="2829340" cy="687240"/>
          </a:xfrm>
          <a:prstGeom prst="flowChartProcess">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a:t>Test with other systems</a:t>
            </a:r>
          </a:p>
        </p:txBody>
      </p:sp>
      <p:sp>
        <p:nvSpPr>
          <p:cNvPr id="17" name="Flowchart: Process 16">
            <a:extLst>
              <a:ext uri="{FF2B5EF4-FFF2-40B4-BE49-F238E27FC236}">
                <a16:creationId xmlns:a16="http://schemas.microsoft.com/office/drawing/2014/main" id="{8780DFCB-B036-B242-DDC6-16BCFD57680D}"/>
              </a:ext>
            </a:extLst>
          </p:cNvPr>
          <p:cNvSpPr/>
          <p:nvPr/>
        </p:nvSpPr>
        <p:spPr>
          <a:xfrm>
            <a:off x="8143460" y="3868411"/>
            <a:ext cx="2829340" cy="687240"/>
          </a:xfrm>
          <a:prstGeom prst="flowChartProcess">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a:t>Identify unintended impacts</a:t>
            </a:r>
          </a:p>
        </p:txBody>
      </p:sp>
      <p:sp>
        <p:nvSpPr>
          <p:cNvPr id="19" name="Flowchart: Process 18">
            <a:extLst>
              <a:ext uri="{FF2B5EF4-FFF2-40B4-BE49-F238E27FC236}">
                <a16:creationId xmlns:a16="http://schemas.microsoft.com/office/drawing/2014/main" id="{01D4DC48-1B1B-618B-0249-962BAE17A510}"/>
              </a:ext>
            </a:extLst>
          </p:cNvPr>
          <p:cNvSpPr/>
          <p:nvPr/>
        </p:nvSpPr>
        <p:spPr>
          <a:xfrm>
            <a:off x="8126895" y="4704668"/>
            <a:ext cx="2829340" cy="687240"/>
          </a:xfrm>
          <a:prstGeom prst="flowChart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Correct problems</a:t>
            </a:r>
          </a:p>
          <a:p>
            <a:pPr algn="ctr"/>
            <a:r>
              <a:rPr lang="en-US" dirty="0"/>
              <a:t>(back to development)</a:t>
            </a:r>
          </a:p>
        </p:txBody>
      </p:sp>
      <p:sp>
        <p:nvSpPr>
          <p:cNvPr id="21" name="Flowchart: Process 20">
            <a:extLst>
              <a:ext uri="{FF2B5EF4-FFF2-40B4-BE49-F238E27FC236}">
                <a16:creationId xmlns:a16="http://schemas.microsoft.com/office/drawing/2014/main" id="{47C1E202-FABB-1C49-0A4A-C6C5F3677E51}"/>
              </a:ext>
            </a:extLst>
          </p:cNvPr>
          <p:cNvSpPr/>
          <p:nvPr/>
        </p:nvSpPr>
        <p:spPr>
          <a:xfrm>
            <a:off x="8126895" y="5544595"/>
            <a:ext cx="2829340" cy="687240"/>
          </a:xfrm>
          <a:prstGeom prst="flowChartProcess">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Ready for Deployment</a:t>
            </a:r>
          </a:p>
        </p:txBody>
      </p:sp>
      <p:sp>
        <p:nvSpPr>
          <p:cNvPr id="23" name="Flowchart: Process 22">
            <a:extLst>
              <a:ext uri="{FF2B5EF4-FFF2-40B4-BE49-F238E27FC236}">
                <a16:creationId xmlns:a16="http://schemas.microsoft.com/office/drawing/2014/main" id="{A64EEC92-C3F3-6DB4-0A27-3EF75F99D5B2}"/>
              </a:ext>
            </a:extLst>
          </p:cNvPr>
          <p:cNvSpPr/>
          <p:nvPr/>
        </p:nvSpPr>
        <p:spPr>
          <a:xfrm>
            <a:off x="7558709" y="1192908"/>
            <a:ext cx="3955774" cy="774924"/>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Integrate &amp; Testing</a:t>
            </a:r>
          </a:p>
        </p:txBody>
      </p:sp>
      <p:sp>
        <p:nvSpPr>
          <p:cNvPr id="25" name="TextBox 24">
            <a:extLst>
              <a:ext uri="{FF2B5EF4-FFF2-40B4-BE49-F238E27FC236}">
                <a16:creationId xmlns:a16="http://schemas.microsoft.com/office/drawing/2014/main" id="{A0A8747B-EECA-9600-072D-6CD716176269}"/>
              </a:ext>
            </a:extLst>
          </p:cNvPr>
          <p:cNvSpPr txBox="1"/>
          <p:nvPr/>
        </p:nvSpPr>
        <p:spPr>
          <a:xfrm>
            <a:off x="0" y="6456117"/>
            <a:ext cx="6097656" cy="369332"/>
          </a:xfrm>
          <a:prstGeom prst="rect">
            <a:avLst/>
          </a:prstGeom>
          <a:noFill/>
        </p:spPr>
        <p:txBody>
          <a:bodyPr wrap="square">
            <a:spAutoFit/>
          </a:bodyPr>
          <a:lstStyle/>
          <a:p>
            <a:r>
              <a:rPr lang="en-US" dirty="0"/>
              <a:t>(Kim et al., 2021)</a:t>
            </a:r>
          </a:p>
        </p:txBody>
      </p:sp>
    </p:spTree>
    <p:extLst>
      <p:ext uri="{BB962C8B-B14F-4D97-AF65-F5344CB8AC3E}">
        <p14:creationId xmlns:p14="http://schemas.microsoft.com/office/powerpoint/2010/main" val="2140527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91AC0-AB7A-67AB-BBB0-6DA8DAF36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845C8-0738-C74C-713B-B02FFCF1BE16}"/>
              </a:ext>
            </a:extLst>
          </p:cNvPr>
          <p:cNvSpPr>
            <a:spLocks noGrp="1"/>
          </p:cNvSpPr>
          <p:nvPr>
            <p:ph type="title"/>
          </p:nvPr>
        </p:nvSpPr>
        <p:spPr>
          <a:xfrm>
            <a:off x="429418" y="217217"/>
            <a:ext cx="11418025" cy="876193"/>
          </a:xfrm>
        </p:spPr>
        <p:txBody>
          <a:bodyPr/>
          <a:lstStyle/>
          <a:p>
            <a:r>
              <a:rPr lang="en-US" b="1" dirty="0"/>
              <a:t>Inside the Technology Value Stream – Deploy</a:t>
            </a:r>
            <a:endParaRPr lang="en-US" dirty="0"/>
          </a:p>
        </p:txBody>
      </p:sp>
      <p:sp>
        <p:nvSpPr>
          <p:cNvPr id="3" name="Content Placeholder 2">
            <a:extLst>
              <a:ext uri="{FF2B5EF4-FFF2-40B4-BE49-F238E27FC236}">
                <a16:creationId xmlns:a16="http://schemas.microsoft.com/office/drawing/2014/main" id="{89059539-C8D9-28FE-EC3A-4F5EDCC83F0B}"/>
              </a:ext>
            </a:extLst>
          </p:cNvPr>
          <p:cNvSpPr>
            <a:spLocks noGrp="1"/>
          </p:cNvSpPr>
          <p:nvPr>
            <p:ph idx="1"/>
          </p:nvPr>
        </p:nvSpPr>
        <p:spPr>
          <a:xfrm>
            <a:off x="429418" y="1540565"/>
            <a:ext cx="6130408" cy="4691270"/>
          </a:xfrm>
        </p:spPr>
        <p:txBody>
          <a:bodyPr>
            <a:normAutofit/>
          </a:bodyPr>
          <a:lstStyle/>
          <a:p>
            <a:r>
              <a:rPr lang="en-US" sz="1800" b="1" dirty="0"/>
              <a:t>A tested feature still needs to be successfully deployed before it can provide value to the customer.</a:t>
            </a:r>
            <a:r>
              <a:rPr lang="en-US" sz="1800" dirty="0"/>
              <a:t> The release must be prepared, moved into production, and verified to ensure it operates as expected.</a:t>
            </a:r>
          </a:p>
          <a:p>
            <a:r>
              <a:rPr lang="en-US" sz="1800" dirty="0"/>
              <a:t>Deployment is </a:t>
            </a:r>
            <a:r>
              <a:rPr lang="en-US" sz="1800" b="1" dirty="0"/>
              <a:t>processing time</a:t>
            </a:r>
            <a:r>
              <a:rPr lang="en-US" sz="1800" dirty="0"/>
              <a:t> while the release is actively being prepared or deployed. Waiting for approvals, release windows, or available resources increases the total </a:t>
            </a:r>
            <a:r>
              <a:rPr lang="en-US" sz="1800" b="1" dirty="0"/>
              <a:t>lead time</a:t>
            </a:r>
            <a:r>
              <a:rPr lang="en-US" sz="1800" dirty="0"/>
              <a:t>.</a:t>
            </a:r>
          </a:p>
          <a:p>
            <a:endParaRPr lang="en-US" sz="1800" dirty="0"/>
          </a:p>
          <a:p>
            <a:r>
              <a:rPr lang="en-US" sz="1800" dirty="0"/>
              <a:t>Traditional processes can leave completed changes waiting days, weeks, or months for deployment. DevOps aims to make deployment a routine, repeatable process.</a:t>
            </a:r>
          </a:p>
        </p:txBody>
      </p:sp>
      <p:sp>
        <p:nvSpPr>
          <p:cNvPr id="4" name="Flowchart: Process 3">
            <a:extLst>
              <a:ext uri="{FF2B5EF4-FFF2-40B4-BE49-F238E27FC236}">
                <a16:creationId xmlns:a16="http://schemas.microsoft.com/office/drawing/2014/main" id="{128265C6-2642-A996-1CEC-00CFF638C016}"/>
              </a:ext>
            </a:extLst>
          </p:cNvPr>
          <p:cNvSpPr/>
          <p:nvPr/>
        </p:nvSpPr>
        <p:spPr>
          <a:xfrm>
            <a:off x="7513983" y="993913"/>
            <a:ext cx="4045226" cy="552615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Process 4">
            <a:extLst>
              <a:ext uri="{FF2B5EF4-FFF2-40B4-BE49-F238E27FC236}">
                <a16:creationId xmlns:a16="http://schemas.microsoft.com/office/drawing/2014/main" id="{5F3D301E-5D58-40BD-8BD9-C05DA4F693AD}"/>
              </a:ext>
            </a:extLst>
          </p:cNvPr>
          <p:cNvSpPr/>
          <p:nvPr/>
        </p:nvSpPr>
        <p:spPr>
          <a:xfrm>
            <a:off x="8143460" y="2166826"/>
            <a:ext cx="2829340" cy="774925"/>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Tested and approved</a:t>
            </a:r>
          </a:p>
        </p:txBody>
      </p:sp>
      <p:sp>
        <p:nvSpPr>
          <p:cNvPr id="15" name="Flowchart: Process 14">
            <a:extLst>
              <a:ext uri="{FF2B5EF4-FFF2-40B4-BE49-F238E27FC236}">
                <a16:creationId xmlns:a16="http://schemas.microsoft.com/office/drawing/2014/main" id="{FC410E7C-0C5A-7AAA-9B69-BBF5CB1494FC}"/>
              </a:ext>
            </a:extLst>
          </p:cNvPr>
          <p:cNvSpPr/>
          <p:nvPr/>
        </p:nvSpPr>
        <p:spPr>
          <a:xfrm>
            <a:off x="8143460" y="3061461"/>
            <a:ext cx="2829340" cy="687240"/>
          </a:xfrm>
          <a:prstGeom prst="flowChartProcess">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a:t>Prepare release</a:t>
            </a:r>
          </a:p>
        </p:txBody>
      </p:sp>
      <p:sp>
        <p:nvSpPr>
          <p:cNvPr id="17" name="Flowchart: Process 16">
            <a:extLst>
              <a:ext uri="{FF2B5EF4-FFF2-40B4-BE49-F238E27FC236}">
                <a16:creationId xmlns:a16="http://schemas.microsoft.com/office/drawing/2014/main" id="{76883D24-5456-C69D-B7E7-E94B1F1C0C42}"/>
              </a:ext>
            </a:extLst>
          </p:cNvPr>
          <p:cNvSpPr/>
          <p:nvPr/>
        </p:nvSpPr>
        <p:spPr>
          <a:xfrm>
            <a:off x="8143460" y="3868411"/>
            <a:ext cx="2829340" cy="687240"/>
          </a:xfrm>
          <a:prstGeom prst="flowChartProcess">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a:t>Deploy</a:t>
            </a:r>
          </a:p>
        </p:txBody>
      </p:sp>
      <p:sp>
        <p:nvSpPr>
          <p:cNvPr id="19" name="Flowchart: Process 18">
            <a:extLst>
              <a:ext uri="{FF2B5EF4-FFF2-40B4-BE49-F238E27FC236}">
                <a16:creationId xmlns:a16="http://schemas.microsoft.com/office/drawing/2014/main" id="{6D49084F-4666-781B-5F33-84F5CC117C9A}"/>
              </a:ext>
            </a:extLst>
          </p:cNvPr>
          <p:cNvSpPr/>
          <p:nvPr/>
        </p:nvSpPr>
        <p:spPr>
          <a:xfrm>
            <a:off x="8126895" y="4704668"/>
            <a:ext cx="2829340" cy="687240"/>
          </a:xfrm>
          <a:prstGeom prst="flowChart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Verify Operations</a:t>
            </a:r>
          </a:p>
        </p:txBody>
      </p:sp>
      <p:sp>
        <p:nvSpPr>
          <p:cNvPr id="21" name="Flowchart: Process 20">
            <a:extLst>
              <a:ext uri="{FF2B5EF4-FFF2-40B4-BE49-F238E27FC236}">
                <a16:creationId xmlns:a16="http://schemas.microsoft.com/office/drawing/2014/main" id="{C1197FE8-4C9E-B2AD-B979-4DC08495D959}"/>
              </a:ext>
            </a:extLst>
          </p:cNvPr>
          <p:cNvSpPr/>
          <p:nvPr/>
        </p:nvSpPr>
        <p:spPr>
          <a:xfrm>
            <a:off x="8126895" y="5544595"/>
            <a:ext cx="2829340" cy="687240"/>
          </a:xfrm>
          <a:prstGeom prst="flowChartProcess">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Available to Customer</a:t>
            </a:r>
          </a:p>
        </p:txBody>
      </p:sp>
      <p:sp>
        <p:nvSpPr>
          <p:cNvPr id="23" name="Flowchart: Process 22">
            <a:extLst>
              <a:ext uri="{FF2B5EF4-FFF2-40B4-BE49-F238E27FC236}">
                <a16:creationId xmlns:a16="http://schemas.microsoft.com/office/drawing/2014/main" id="{3A3DE457-5A20-B70A-415B-27FE1698585A}"/>
              </a:ext>
            </a:extLst>
          </p:cNvPr>
          <p:cNvSpPr/>
          <p:nvPr/>
        </p:nvSpPr>
        <p:spPr>
          <a:xfrm>
            <a:off x="7558709" y="1192908"/>
            <a:ext cx="3955774" cy="774924"/>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Deploy</a:t>
            </a:r>
          </a:p>
        </p:txBody>
      </p:sp>
      <p:sp>
        <p:nvSpPr>
          <p:cNvPr id="25" name="TextBox 24">
            <a:extLst>
              <a:ext uri="{FF2B5EF4-FFF2-40B4-BE49-F238E27FC236}">
                <a16:creationId xmlns:a16="http://schemas.microsoft.com/office/drawing/2014/main" id="{E9B73D68-04D0-7788-D5BD-167B74FAC24F}"/>
              </a:ext>
            </a:extLst>
          </p:cNvPr>
          <p:cNvSpPr txBox="1"/>
          <p:nvPr/>
        </p:nvSpPr>
        <p:spPr>
          <a:xfrm>
            <a:off x="0" y="6456117"/>
            <a:ext cx="6097656" cy="369332"/>
          </a:xfrm>
          <a:prstGeom prst="rect">
            <a:avLst/>
          </a:prstGeom>
          <a:noFill/>
        </p:spPr>
        <p:txBody>
          <a:bodyPr wrap="square">
            <a:spAutoFit/>
          </a:bodyPr>
          <a:lstStyle/>
          <a:p>
            <a:r>
              <a:rPr lang="en-US" dirty="0"/>
              <a:t>(Kim et al., 2021)</a:t>
            </a:r>
          </a:p>
        </p:txBody>
      </p:sp>
    </p:spTree>
    <p:extLst>
      <p:ext uri="{BB962C8B-B14F-4D97-AF65-F5344CB8AC3E}">
        <p14:creationId xmlns:p14="http://schemas.microsoft.com/office/powerpoint/2010/main" val="377469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132F4-38ED-1B51-608B-6680C407A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C2781-B898-8707-5984-BA168066C160}"/>
              </a:ext>
            </a:extLst>
          </p:cNvPr>
          <p:cNvSpPr>
            <a:spLocks noGrp="1"/>
          </p:cNvSpPr>
          <p:nvPr>
            <p:ph type="title"/>
          </p:nvPr>
        </p:nvSpPr>
        <p:spPr>
          <a:xfrm>
            <a:off x="429418" y="217217"/>
            <a:ext cx="11418025" cy="876193"/>
          </a:xfrm>
        </p:spPr>
        <p:txBody>
          <a:bodyPr/>
          <a:lstStyle/>
          <a:p>
            <a:r>
              <a:rPr lang="en-US" b="1" dirty="0"/>
              <a:t>Inside the Technology Value Stream – Customer &amp; Feedback</a:t>
            </a:r>
            <a:endParaRPr lang="en-US" dirty="0"/>
          </a:p>
        </p:txBody>
      </p:sp>
      <p:sp>
        <p:nvSpPr>
          <p:cNvPr id="3" name="Content Placeholder 2">
            <a:extLst>
              <a:ext uri="{FF2B5EF4-FFF2-40B4-BE49-F238E27FC236}">
                <a16:creationId xmlns:a16="http://schemas.microsoft.com/office/drawing/2014/main" id="{A2AE32C7-9F61-7A7D-AD00-85AEC1AA9333}"/>
              </a:ext>
            </a:extLst>
          </p:cNvPr>
          <p:cNvSpPr>
            <a:spLocks noGrp="1"/>
          </p:cNvSpPr>
          <p:nvPr>
            <p:ph idx="1"/>
          </p:nvPr>
        </p:nvSpPr>
        <p:spPr>
          <a:xfrm>
            <a:off x="429418" y="1540565"/>
            <a:ext cx="6130408" cy="4691270"/>
          </a:xfrm>
        </p:spPr>
        <p:txBody>
          <a:bodyPr>
            <a:normAutofit/>
          </a:bodyPr>
          <a:lstStyle/>
          <a:p>
            <a:r>
              <a:rPr lang="en-US" sz="1800" b="1" dirty="0"/>
              <a:t>Reaching the customer completes the current request, but not necessarily the value stream.</a:t>
            </a:r>
            <a:r>
              <a:rPr lang="en-US" sz="1800" dirty="0"/>
              <a:t> Using the feature allows the customer to determine whether it meets their needs and provide feedback.</a:t>
            </a:r>
          </a:p>
          <a:p>
            <a:r>
              <a:rPr lang="en-US" sz="1800" dirty="0"/>
              <a:t>That feedback may identify bugs, improvements, or entirely new features, creating another </a:t>
            </a:r>
            <a:r>
              <a:rPr lang="en-US" sz="1800" b="1" dirty="0"/>
              <a:t>business need</a:t>
            </a:r>
            <a:r>
              <a:rPr lang="en-US" sz="1800" dirty="0"/>
              <a:t> and starting the value stream again.</a:t>
            </a:r>
          </a:p>
          <a:p>
            <a:endParaRPr lang="en-US" sz="1800" dirty="0"/>
          </a:p>
          <a:p>
            <a:r>
              <a:rPr lang="en-US" sz="1800" dirty="0"/>
              <a:t>Shorter lead times mean feedback is received sooner, allowing the next improvement to begin sooner</a:t>
            </a:r>
          </a:p>
        </p:txBody>
      </p:sp>
      <p:sp>
        <p:nvSpPr>
          <p:cNvPr id="4" name="Flowchart: Process 3">
            <a:extLst>
              <a:ext uri="{FF2B5EF4-FFF2-40B4-BE49-F238E27FC236}">
                <a16:creationId xmlns:a16="http://schemas.microsoft.com/office/drawing/2014/main" id="{A355F183-7BE7-2EBA-DDA9-D32ED1ED9869}"/>
              </a:ext>
            </a:extLst>
          </p:cNvPr>
          <p:cNvSpPr/>
          <p:nvPr/>
        </p:nvSpPr>
        <p:spPr>
          <a:xfrm>
            <a:off x="7513983" y="993914"/>
            <a:ext cx="4045226" cy="5237922"/>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Process 4">
            <a:extLst>
              <a:ext uri="{FF2B5EF4-FFF2-40B4-BE49-F238E27FC236}">
                <a16:creationId xmlns:a16="http://schemas.microsoft.com/office/drawing/2014/main" id="{6F79AD09-91D7-08F6-D3C4-88BBDD2566B0}"/>
              </a:ext>
            </a:extLst>
          </p:cNvPr>
          <p:cNvSpPr/>
          <p:nvPr/>
        </p:nvSpPr>
        <p:spPr>
          <a:xfrm>
            <a:off x="8143460" y="2166826"/>
            <a:ext cx="2829340" cy="774925"/>
          </a:xfrm>
          <a:prstGeom prst="flowChartProcess">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a:t>Uses the feature</a:t>
            </a:r>
          </a:p>
        </p:txBody>
      </p:sp>
      <p:sp>
        <p:nvSpPr>
          <p:cNvPr id="15" name="Flowchart: Process 14">
            <a:extLst>
              <a:ext uri="{FF2B5EF4-FFF2-40B4-BE49-F238E27FC236}">
                <a16:creationId xmlns:a16="http://schemas.microsoft.com/office/drawing/2014/main" id="{E578A8A0-1F49-29BF-BA27-60A214D92760}"/>
              </a:ext>
            </a:extLst>
          </p:cNvPr>
          <p:cNvSpPr/>
          <p:nvPr/>
        </p:nvSpPr>
        <p:spPr>
          <a:xfrm>
            <a:off x="8143460" y="3061461"/>
            <a:ext cx="2829340" cy="687240"/>
          </a:xfrm>
          <a:prstGeom prst="flowChartProcess">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a:t>Provides Feedback</a:t>
            </a:r>
          </a:p>
        </p:txBody>
      </p:sp>
      <p:sp>
        <p:nvSpPr>
          <p:cNvPr id="17" name="Flowchart: Process 16">
            <a:extLst>
              <a:ext uri="{FF2B5EF4-FFF2-40B4-BE49-F238E27FC236}">
                <a16:creationId xmlns:a16="http://schemas.microsoft.com/office/drawing/2014/main" id="{F6972569-BB71-C35F-2C96-60D1C45757EE}"/>
              </a:ext>
            </a:extLst>
          </p:cNvPr>
          <p:cNvSpPr/>
          <p:nvPr/>
        </p:nvSpPr>
        <p:spPr>
          <a:xfrm>
            <a:off x="8143460" y="3868411"/>
            <a:ext cx="2829340" cy="687240"/>
          </a:xfrm>
          <a:prstGeom prst="flowChartProcess">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dirty="0"/>
              <a:t>Identify New Needs</a:t>
            </a:r>
          </a:p>
        </p:txBody>
      </p:sp>
      <p:sp>
        <p:nvSpPr>
          <p:cNvPr id="19" name="Flowchart: Process 18">
            <a:extLst>
              <a:ext uri="{FF2B5EF4-FFF2-40B4-BE49-F238E27FC236}">
                <a16:creationId xmlns:a16="http://schemas.microsoft.com/office/drawing/2014/main" id="{A0592433-FB9A-ADDD-DBC2-088074D00458}"/>
              </a:ext>
            </a:extLst>
          </p:cNvPr>
          <p:cNvSpPr/>
          <p:nvPr/>
        </p:nvSpPr>
        <p:spPr>
          <a:xfrm>
            <a:off x="8126895" y="4704667"/>
            <a:ext cx="2829340" cy="1159419"/>
          </a:xfrm>
          <a:prstGeom prst="flowChartProcess">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Creates new customer ticket/request = new business need</a:t>
            </a:r>
          </a:p>
        </p:txBody>
      </p:sp>
      <p:sp>
        <p:nvSpPr>
          <p:cNvPr id="23" name="Flowchart: Process 22">
            <a:extLst>
              <a:ext uri="{FF2B5EF4-FFF2-40B4-BE49-F238E27FC236}">
                <a16:creationId xmlns:a16="http://schemas.microsoft.com/office/drawing/2014/main" id="{6020876E-44DA-52F9-D588-62B38A5F27AC}"/>
              </a:ext>
            </a:extLst>
          </p:cNvPr>
          <p:cNvSpPr/>
          <p:nvPr/>
        </p:nvSpPr>
        <p:spPr>
          <a:xfrm>
            <a:off x="7558709" y="1192908"/>
            <a:ext cx="3955774" cy="774924"/>
          </a:xfrm>
          <a:prstGeom prst="flowChartProcess">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Customer &amp; Feedback</a:t>
            </a:r>
          </a:p>
        </p:txBody>
      </p:sp>
      <p:sp>
        <p:nvSpPr>
          <p:cNvPr id="25" name="TextBox 24">
            <a:extLst>
              <a:ext uri="{FF2B5EF4-FFF2-40B4-BE49-F238E27FC236}">
                <a16:creationId xmlns:a16="http://schemas.microsoft.com/office/drawing/2014/main" id="{F47D6367-083A-B180-B184-5CC505A65104}"/>
              </a:ext>
            </a:extLst>
          </p:cNvPr>
          <p:cNvSpPr txBox="1"/>
          <p:nvPr/>
        </p:nvSpPr>
        <p:spPr>
          <a:xfrm>
            <a:off x="0" y="6456117"/>
            <a:ext cx="6097656" cy="369332"/>
          </a:xfrm>
          <a:prstGeom prst="rect">
            <a:avLst/>
          </a:prstGeom>
          <a:noFill/>
        </p:spPr>
        <p:txBody>
          <a:bodyPr wrap="square">
            <a:spAutoFit/>
          </a:bodyPr>
          <a:lstStyle/>
          <a:p>
            <a:r>
              <a:rPr lang="en-US" dirty="0"/>
              <a:t>(Kim et al., 2021)</a:t>
            </a:r>
          </a:p>
        </p:txBody>
      </p:sp>
    </p:spTree>
    <p:extLst>
      <p:ext uri="{BB962C8B-B14F-4D97-AF65-F5344CB8AC3E}">
        <p14:creationId xmlns:p14="http://schemas.microsoft.com/office/powerpoint/2010/main" val="4057276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6EB55-475B-D030-58B8-9E9932FCE1DD}"/>
              </a:ext>
            </a:extLst>
          </p:cNvPr>
          <p:cNvSpPr>
            <a:spLocks noGrp="1"/>
          </p:cNvSpPr>
          <p:nvPr>
            <p:ph type="title"/>
          </p:nvPr>
        </p:nvSpPr>
        <p:spPr>
          <a:xfrm>
            <a:off x="428729" y="345935"/>
            <a:ext cx="9942409" cy="876193"/>
          </a:xfrm>
        </p:spPr>
        <p:txBody>
          <a:bodyPr/>
          <a:lstStyle/>
          <a:p>
            <a:r>
              <a:rPr lang="en-US" dirty="0"/>
              <a:t>From Months to Minutes: The DevOps Ideal</a:t>
            </a:r>
          </a:p>
        </p:txBody>
      </p:sp>
      <p:graphicFrame>
        <p:nvGraphicFramePr>
          <p:cNvPr id="4" name="Content Placeholder 3">
            <a:extLst>
              <a:ext uri="{FF2B5EF4-FFF2-40B4-BE49-F238E27FC236}">
                <a16:creationId xmlns:a16="http://schemas.microsoft.com/office/drawing/2014/main" id="{C0CD9306-9F1D-325D-EA5F-FEF048CEBBCC}"/>
              </a:ext>
            </a:extLst>
          </p:cNvPr>
          <p:cNvGraphicFramePr>
            <a:graphicFrameLocks noGrp="1"/>
          </p:cNvGraphicFramePr>
          <p:nvPr>
            <p:ph idx="1"/>
            <p:extLst>
              <p:ext uri="{D42A27DB-BD31-4B8C-83A1-F6EECF244321}">
                <p14:modId xmlns:p14="http://schemas.microsoft.com/office/powerpoint/2010/main" val="543784173"/>
              </p:ext>
            </p:extLst>
          </p:nvPr>
        </p:nvGraphicFramePr>
        <p:xfrm>
          <a:off x="925582" y="1020418"/>
          <a:ext cx="9942513" cy="3337560"/>
        </p:xfrm>
        <a:graphic>
          <a:graphicData uri="http://schemas.openxmlformats.org/drawingml/2006/table">
            <a:tbl>
              <a:tblPr firstRow="1" bandRow="1">
                <a:tableStyleId>{5C22544A-7EE6-4342-B048-85BDC9FD1C3A}</a:tableStyleId>
              </a:tblPr>
              <a:tblGrid>
                <a:gridCol w="4312340">
                  <a:extLst>
                    <a:ext uri="{9D8B030D-6E8A-4147-A177-3AD203B41FA5}">
                      <a16:colId xmlns:a16="http://schemas.microsoft.com/office/drawing/2014/main" val="2255052830"/>
                    </a:ext>
                  </a:extLst>
                </a:gridCol>
                <a:gridCol w="1311965">
                  <a:extLst>
                    <a:ext uri="{9D8B030D-6E8A-4147-A177-3AD203B41FA5}">
                      <a16:colId xmlns:a16="http://schemas.microsoft.com/office/drawing/2014/main" val="1331963854"/>
                    </a:ext>
                  </a:extLst>
                </a:gridCol>
                <a:gridCol w="4318208">
                  <a:extLst>
                    <a:ext uri="{9D8B030D-6E8A-4147-A177-3AD203B41FA5}">
                      <a16:colId xmlns:a16="http://schemas.microsoft.com/office/drawing/2014/main" val="2004136507"/>
                    </a:ext>
                  </a:extLst>
                </a:gridCol>
              </a:tblGrid>
              <a:tr h="370840">
                <a:tc>
                  <a:txBody>
                    <a:bodyPr/>
                    <a:lstStyle/>
                    <a:p>
                      <a:r>
                        <a:rPr lang="en-US" dirty="0"/>
                        <a:t>Deployment Lead Times of Months</a:t>
                      </a:r>
                    </a:p>
                  </a:txBody>
                  <a:tcPr/>
                </a:tc>
                <a:tc>
                  <a:txBody>
                    <a:bodyPr/>
                    <a:lstStyle/>
                    <a:p>
                      <a:pPr algn="ctr"/>
                      <a:r>
                        <a:rPr lang="en-US" dirty="0"/>
                        <a:t>Change</a:t>
                      </a:r>
                    </a:p>
                  </a:txBody>
                  <a:tcPr/>
                </a:tc>
                <a:tc>
                  <a:txBody>
                    <a:bodyPr/>
                    <a:lstStyle/>
                    <a:p>
                      <a:pPr algn="r"/>
                      <a:r>
                        <a:rPr lang="en-US" dirty="0"/>
                        <a:t>DevOps Ideal: Minutes</a:t>
                      </a:r>
                    </a:p>
                  </a:txBody>
                  <a:tcPr/>
                </a:tc>
                <a:extLst>
                  <a:ext uri="{0D108BD9-81ED-4DB2-BD59-A6C34878D82A}">
                    <a16:rowId xmlns:a16="http://schemas.microsoft.com/office/drawing/2014/main" val="2460657399"/>
                  </a:ext>
                </a:extLst>
              </a:tr>
              <a:tr h="370840">
                <a:tc>
                  <a:txBody>
                    <a:bodyPr/>
                    <a:lstStyle/>
                    <a:p>
                      <a:r>
                        <a:rPr lang="en-US" dirty="0"/>
                        <a:t>Large Batches of changes</a:t>
                      </a:r>
                    </a:p>
                  </a:txBody>
                  <a:tcPr/>
                </a:tc>
                <a:tc>
                  <a:txBody>
                    <a:bodyPr/>
                    <a:lstStyle/>
                    <a:p>
                      <a:endParaRPr lang="en-US" dirty="0"/>
                    </a:p>
                  </a:txBody>
                  <a:tcPr/>
                </a:tc>
                <a:tc>
                  <a:txBody>
                    <a:bodyPr/>
                    <a:lstStyle/>
                    <a:p>
                      <a:pPr algn="r"/>
                      <a:r>
                        <a:rPr lang="en-US" dirty="0"/>
                        <a:t>Small, frequent changes</a:t>
                      </a:r>
                    </a:p>
                  </a:txBody>
                  <a:tcPr/>
                </a:tc>
                <a:extLst>
                  <a:ext uri="{0D108BD9-81ED-4DB2-BD59-A6C34878D82A}">
                    <a16:rowId xmlns:a16="http://schemas.microsoft.com/office/drawing/2014/main" val="673287663"/>
                  </a:ext>
                </a:extLst>
              </a:tr>
              <a:tr h="370840">
                <a:tc>
                  <a:txBody>
                    <a:bodyPr/>
                    <a:lstStyle/>
                    <a:p>
                      <a:r>
                        <a:rPr lang="en-US" dirty="0"/>
                        <a:t>Work waits between stages</a:t>
                      </a:r>
                    </a:p>
                  </a:txBody>
                  <a:tcPr/>
                </a:tc>
                <a:tc>
                  <a:txBody>
                    <a:bodyPr/>
                    <a:lstStyle/>
                    <a:p>
                      <a:endParaRPr lang="en-US" dirty="0"/>
                    </a:p>
                  </a:txBody>
                  <a:tcPr/>
                </a:tc>
                <a:tc>
                  <a:txBody>
                    <a:bodyPr/>
                    <a:lstStyle/>
                    <a:p>
                      <a:pPr algn="r"/>
                      <a:r>
                        <a:rPr lang="en-US" dirty="0"/>
                        <a:t>Continuous flow</a:t>
                      </a:r>
                    </a:p>
                  </a:txBody>
                  <a:tcPr/>
                </a:tc>
                <a:extLst>
                  <a:ext uri="{0D108BD9-81ED-4DB2-BD59-A6C34878D82A}">
                    <a16:rowId xmlns:a16="http://schemas.microsoft.com/office/drawing/2014/main" val="1362381115"/>
                  </a:ext>
                </a:extLst>
              </a:tr>
              <a:tr h="370840">
                <a:tc>
                  <a:txBody>
                    <a:bodyPr/>
                    <a:lstStyle/>
                    <a:p>
                      <a:r>
                        <a:rPr lang="en-US" dirty="0"/>
                        <a:t>Manual Integration</a:t>
                      </a:r>
                    </a:p>
                  </a:txBody>
                  <a:tcPr/>
                </a:tc>
                <a:tc>
                  <a:txBody>
                    <a:bodyPr/>
                    <a:lstStyle/>
                    <a:p>
                      <a:endParaRPr lang="en-US" dirty="0"/>
                    </a:p>
                  </a:txBody>
                  <a:tcPr/>
                </a:tc>
                <a:tc>
                  <a:txBody>
                    <a:bodyPr/>
                    <a:lstStyle/>
                    <a:p>
                      <a:pPr algn="r"/>
                      <a:r>
                        <a:rPr lang="en-US" dirty="0"/>
                        <a:t>Continuous integration</a:t>
                      </a:r>
                    </a:p>
                  </a:txBody>
                  <a:tcPr/>
                </a:tc>
                <a:extLst>
                  <a:ext uri="{0D108BD9-81ED-4DB2-BD59-A6C34878D82A}">
                    <a16:rowId xmlns:a16="http://schemas.microsoft.com/office/drawing/2014/main" val="41905922"/>
                  </a:ext>
                </a:extLst>
              </a:tr>
              <a:tr h="370840">
                <a:tc>
                  <a:txBody>
                    <a:bodyPr/>
                    <a:lstStyle/>
                    <a:p>
                      <a:r>
                        <a:rPr lang="en-US" dirty="0"/>
                        <a:t>Manual Testing</a:t>
                      </a:r>
                    </a:p>
                  </a:txBody>
                  <a:tcPr/>
                </a:tc>
                <a:tc>
                  <a:txBody>
                    <a:bodyPr/>
                    <a:lstStyle/>
                    <a:p>
                      <a:endParaRPr lang="en-US" dirty="0"/>
                    </a:p>
                  </a:txBody>
                  <a:tcPr/>
                </a:tc>
                <a:tc>
                  <a:txBody>
                    <a:bodyPr/>
                    <a:lstStyle/>
                    <a:p>
                      <a:pPr algn="r"/>
                      <a:r>
                        <a:rPr lang="en-US" dirty="0"/>
                        <a:t>Automated testing</a:t>
                      </a:r>
                    </a:p>
                  </a:txBody>
                  <a:tcPr/>
                </a:tc>
                <a:extLst>
                  <a:ext uri="{0D108BD9-81ED-4DB2-BD59-A6C34878D82A}">
                    <a16:rowId xmlns:a16="http://schemas.microsoft.com/office/drawing/2014/main" val="980922544"/>
                  </a:ext>
                </a:extLst>
              </a:tr>
              <a:tr h="370840">
                <a:tc>
                  <a:txBody>
                    <a:bodyPr/>
                    <a:lstStyle/>
                    <a:p>
                      <a:r>
                        <a:rPr lang="en-US" dirty="0"/>
                        <a:t>Manual Deployment</a:t>
                      </a:r>
                    </a:p>
                  </a:txBody>
                  <a:tcPr/>
                </a:tc>
                <a:tc>
                  <a:txBody>
                    <a:bodyPr/>
                    <a:lstStyle/>
                    <a:p>
                      <a:endParaRPr lang="en-US" dirty="0"/>
                    </a:p>
                  </a:txBody>
                  <a:tcPr/>
                </a:tc>
                <a:tc>
                  <a:txBody>
                    <a:bodyPr/>
                    <a:lstStyle/>
                    <a:p>
                      <a:pPr algn="r"/>
                      <a:r>
                        <a:rPr lang="en-US" dirty="0"/>
                        <a:t>Automated Deployment</a:t>
                      </a:r>
                    </a:p>
                  </a:txBody>
                  <a:tcPr/>
                </a:tc>
                <a:extLst>
                  <a:ext uri="{0D108BD9-81ED-4DB2-BD59-A6C34878D82A}">
                    <a16:rowId xmlns:a16="http://schemas.microsoft.com/office/drawing/2014/main" val="2122531277"/>
                  </a:ext>
                </a:extLst>
              </a:tr>
              <a:tr h="370840">
                <a:tc>
                  <a:txBody>
                    <a:bodyPr/>
                    <a:lstStyle/>
                    <a:p>
                      <a:r>
                        <a:rPr lang="en-US" dirty="0"/>
                        <a:t>Problems discovered late</a:t>
                      </a:r>
                    </a:p>
                  </a:txBody>
                  <a:tcPr/>
                </a:tc>
                <a:tc>
                  <a:txBody>
                    <a:bodyPr/>
                    <a:lstStyle/>
                    <a:p>
                      <a:endParaRPr lang="en-US" dirty="0"/>
                    </a:p>
                  </a:txBody>
                  <a:tcPr/>
                </a:tc>
                <a:tc>
                  <a:txBody>
                    <a:bodyPr/>
                    <a:lstStyle/>
                    <a:p>
                      <a:pPr algn="r"/>
                      <a:r>
                        <a:rPr lang="en-US" dirty="0"/>
                        <a:t>Problems identified sooner</a:t>
                      </a:r>
                    </a:p>
                  </a:txBody>
                  <a:tcPr/>
                </a:tc>
                <a:extLst>
                  <a:ext uri="{0D108BD9-81ED-4DB2-BD59-A6C34878D82A}">
                    <a16:rowId xmlns:a16="http://schemas.microsoft.com/office/drawing/2014/main" val="2540063399"/>
                  </a:ext>
                </a:extLst>
              </a:tr>
              <a:tr h="370840">
                <a:tc>
                  <a:txBody>
                    <a:bodyPr/>
                    <a:lstStyle/>
                    <a:p>
                      <a:r>
                        <a:rPr lang="en-US" dirty="0"/>
                        <a:t>Slow customer feedback</a:t>
                      </a:r>
                    </a:p>
                  </a:txBody>
                  <a:tcPr/>
                </a:tc>
                <a:tc>
                  <a:txBody>
                    <a:bodyPr/>
                    <a:lstStyle/>
                    <a:p>
                      <a:endParaRPr lang="en-US" dirty="0"/>
                    </a:p>
                  </a:txBody>
                  <a:tcPr/>
                </a:tc>
                <a:tc>
                  <a:txBody>
                    <a:bodyPr/>
                    <a:lstStyle/>
                    <a:p>
                      <a:pPr algn="r"/>
                      <a:r>
                        <a:rPr lang="en-US" dirty="0"/>
                        <a:t>Rapid feedback</a:t>
                      </a:r>
                    </a:p>
                  </a:txBody>
                  <a:tcPr/>
                </a:tc>
                <a:extLst>
                  <a:ext uri="{0D108BD9-81ED-4DB2-BD59-A6C34878D82A}">
                    <a16:rowId xmlns:a16="http://schemas.microsoft.com/office/drawing/2014/main" val="2218848571"/>
                  </a:ext>
                </a:extLst>
              </a:tr>
              <a:tr h="370840">
                <a:tc>
                  <a:txBody>
                    <a:bodyPr/>
                    <a:lstStyle/>
                    <a:p>
                      <a:r>
                        <a:rPr lang="en-US" dirty="0"/>
                        <a:t>Months to deliver</a:t>
                      </a:r>
                    </a:p>
                  </a:txBody>
                  <a:tcPr/>
                </a:tc>
                <a:tc>
                  <a:txBody>
                    <a:bodyPr/>
                    <a:lstStyle/>
                    <a:p>
                      <a:endParaRPr lang="en-US" dirty="0"/>
                    </a:p>
                  </a:txBody>
                  <a:tcPr/>
                </a:tc>
                <a:tc>
                  <a:txBody>
                    <a:bodyPr/>
                    <a:lstStyle/>
                    <a:p>
                      <a:pPr algn="r"/>
                      <a:r>
                        <a:rPr lang="en-US" dirty="0"/>
                        <a:t>Minutes or hours to deliver</a:t>
                      </a:r>
                    </a:p>
                  </a:txBody>
                  <a:tcPr/>
                </a:tc>
                <a:extLst>
                  <a:ext uri="{0D108BD9-81ED-4DB2-BD59-A6C34878D82A}">
                    <a16:rowId xmlns:a16="http://schemas.microsoft.com/office/drawing/2014/main" val="3719974012"/>
                  </a:ext>
                </a:extLst>
              </a:tr>
            </a:tbl>
          </a:graphicData>
        </a:graphic>
      </p:graphicFrame>
      <p:sp>
        <p:nvSpPr>
          <p:cNvPr id="5" name="Arrow: Right 4">
            <a:extLst>
              <a:ext uri="{FF2B5EF4-FFF2-40B4-BE49-F238E27FC236}">
                <a16:creationId xmlns:a16="http://schemas.microsoft.com/office/drawing/2014/main" id="{4C76E4F3-6D05-B4E7-48B6-89DA4A6E1452}"/>
              </a:ext>
            </a:extLst>
          </p:cNvPr>
          <p:cNvSpPr/>
          <p:nvPr/>
        </p:nvSpPr>
        <p:spPr>
          <a:xfrm>
            <a:off x="5769682" y="1510748"/>
            <a:ext cx="238539" cy="139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D3BD2911-845E-17A4-2D00-FB4DC78E6DD9}"/>
              </a:ext>
            </a:extLst>
          </p:cNvPr>
          <p:cNvSpPr/>
          <p:nvPr/>
        </p:nvSpPr>
        <p:spPr>
          <a:xfrm>
            <a:off x="5777568" y="1921566"/>
            <a:ext cx="238539" cy="139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1A5CEF11-F12B-C5E7-44F5-27D6F3F439E5}"/>
              </a:ext>
            </a:extLst>
          </p:cNvPr>
          <p:cNvSpPr/>
          <p:nvPr/>
        </p:nvSpPr>
        <p:spPr>
          <a:xfrm>
            <a:off x="5769681" y="2266123"/>
            <a:ext cx="238539" cy="139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2135D7D4-386F-EC8D-EF71-43FDFE46E597}"/>
              </a:ext>
            </a:extLst>
          </p:cNvPr>
          <p:cNvSpPr/>
          <p:nvPr/>
        </p:nvSpPr>
        <p:spPr>
          <a:xfrm>
            <a:off x="5769680" y="2619624"/>
            <a:ext cx="238539" cy="139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51E1DCCF-29BA-5B94-E5C8-CF084F2C5A06}"/>
              </a:ext>
            </a:extLst>
          </p:cNvPr>
          <p:cNvSpPr/>
          <p:nvPr/>
        </p:nvSpPr>
        <p:spPr>
          <a:xfrm>
            <a:off x="5769680" y="3021498"/>
            <a:ext cx="238539" cy="139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90818ECB-52D7-A10A-D521-4A76184FDFC1}"/>
              </a:ext>
            </a:extLst>
          </p:cNvPr>
          <p:cNvSpPr/>
          <p:nvPr/>
        </p:nvSpPr>
        <p:spPr>
          <a:xfrm>
            <a:off x="5761793" y="3366055"/>
            <a:ext cx="238539" cy="139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2A3D2FD7-013B-BF5C-68CD-4EE1C8BB3C0A}"/>
              </a:ext>
            </a:extLst>
          </p:cNvPr>
          <p:cNvSpPr/>
          <p:nvPr/>
        </p:nvSpPr>
        <p:spPr>
          <a:xfrm>
            <a:off x="5761792" y="3719556"/>
            <a:ext cx="238539" cy="139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1F2843C1-5FA8-9B3B-5382-80A408F3CB89}"/>
              </a:ext>
            </a:extLst>
          </p:cNvPr>
          <p:cNvSpPr/>
          <p:nvPr/>
        </p:nvSpPr>
        <p:spPr>
          <a:xfrm>
            <a:off x="5777568" y="4073057"/>
            <a:ext cx="238539" cy="1391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84E554C-F2A0-C202-1D4A-2B5C16EBE4A2}"/>
              </a:ext>
            </a:extLst>
          </p:cNvPr>
          <p:cNvSpPr txBox="1"/>
          <p:nvPr/>
        </p:nvSpPr>
        <p:spPr>
          <a:xfrm>
            <a:off x="925581" y="4780059"/>
            <a:ext cx="9942513" cy="1754326"/>
          </a:xfrm>
          <a:prstGeom prst="rect">
            <a:avLst/>
          </a:prstGeom>
          <a:noFill/>
        </p:spPr>
        <p:txBody>
          <a:bodyPr wrap="square">
            <a:spAutoFit/>
          </a:bodyPr>
          <a:lstStyle/>
          <a:p>
            <a:r>
              <a:rPr lang="en-US" b="1" dirty="0"/>
              <a:t>Minutes represent the DevOps ideal, not a requirement for every deployment.</a:t>
            </a:r>
            <a:r>
              <a:rPr lang="en-US" dirty="0"/>
              <a:t> Production risk, downtime, maintenance windows, and business needs may determine when a completed change can safely be released. In a live service, even a minute of downtime can immediately affect customers and their trust in the product. This differs from a traditional version or patch release, where the update can be made available in minutes while customers choose when to download and install it.</a:t>
            </a:r>
          </a:p>
        </p:txBody>
      </p:sp>
    </p:spTree>
    <p:extLst>
      <p:ext uri="{BB962C8B-B14F-4D97-AF65-F5344CB8AC3E}">
        <p14:creationId xmlns:p14="http://schemas.microsoft.com/office/powerpoint/2010/main" val="332687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0F682-A840-873F-2C56-8658BF5031CD}"/>
              </a:ext>
            </a:extLst>
          </p:cNvPr>
          <p:cNvSpPr>
            <a:spLocks noGrp="1"/>
          </p:cNvSpPr>
          <p:nvPr>
            <p:ph type="title"/>
          </p:nvPr>
        </p:nvSpPr>
        <p:spPr/>
        <p:txBody>
          <a:bodyPr/>
          <a:lstStyle/>
          <a:p>
            <a:r>
              <a:rPr lang="en-US" dirty="0"/>
              <a:t>Improving the Technology Value Stream</a:t>
            </a:r>
          </a:p>
        </p:txBody>
      </p:sp>
      <p:sp>
        <p:nvSpPr>
          <p:cNvPr id="3" name="Content Placeholder 2">
            <a:extLst>
              <a:ext uri="{FF2B5EF4-FFF2-40B4-BE49-F238E27FC236}">
                <a16:creationId xmlns:a16="http://schemas.microsoft.com/office/drawing/2014/main" id="{1B35C59A-DCD6-E19E-D335-11F03234248E}"/>
              </a:ext>
            </a:extLst>
          </p:cNvPr>
          <p:cNvSpPr>
            <a:spLocks noGrp="1"/>
          </p:cNvSpPr>
          <p:nvPr>
            <p:ph idx="1"/>
          </p:nvPr>
        </p:nvSpPr>
        <p:spPr>
          <a:xfrm>
            <a:off x="7991062" y="562997"/>
            <a:ext cx="3780148" cy="6006767"/>
          </a:xfrm>
        </p:spPr>
        <p:txBody>
          <a:bodyPr>
            <a:normAutofit/>
          </a:bodyPr>
          <a:lstStyle/>
          <a:p>
            <a:r>
              <a:rPr lang="en-US" b="1" dirty="0"/>
              <a:t>IDENTIFY</a:t>
            </a:r>
            <a:endParaRPr lang="en-US" dirty="0"/>
          </a:p>
          <a:p>
            <a:pPr marL="285750" lvl="0" indent="-285750">
              <a:buFont typeface="Arial" panose="020B0604020202020204" pitchFamily="34" charset="0"/>
              <a:buChar char="•"/>
            </a:pPr>
            <a:r>
              <a:rPr lang="en-US" dirty="0"/>
              <a:t>Waiting and delays </a:t>
            </a:r>
          </a:p>
          <a:p>
            <a:pPr marL="285750" lvl="0" indent="-285750">
              <a:buFont typeface="Arial" panose="020B0604020202020204" pitchFamily="34" charset="0"/>
              <a:buChar char="•"/>
            </a:pPr>
            <a:r>
              <a:rPr lang="en-US" dirty="0"/>
              <a:t>Bottlenecks </a:t>
            </a:r>
          </a:p>
          <a:p>
            <a:pPr marL="285750" lvl="0" indent="-285750">
              <a:buFont typeface="Arial" panose="020B0604020202020204" pitchFamily="34" charset="0"/>
              <a:buChar char="•"/>
            </a:pPr>
            <a:r>
              <a:rPr lang="en-US" dirty="0"/>
              <a:t>Excess work in process </a:t>
            </a:r>
          </a:p>
          <a:p>
            <a:pPr marL="285750" lvl="0" indent="-285750">
              <a:buFont typeface="Arial" panose="020B0604020202020204" pitchFamily="34" charset="0"/>
              <a:buChar char="•"/>
            </a:pPr>
            <a:r>
              <a:rPr lang="en-US" dirty="0"/>
              <a:t>Rework and handoffs </a:t>
            </a:r>
          </a:p>
          <a:p>
            <a:r>
              <a:rPr lang="en-US" b="1" dirty="0"/>
              <a:t>IMPROVE</a:t>
            </a:r>
            <a:endParaRPr lang="en-US" dirty="0"/>
          </a:p>
          <a:p>
            <a:pPr marL="285750" lvl="0" indent="-285750">
              <a:buFont typeface="Arial" panose="020B0604020202020204" pitchFamily="34" charset="0"/>
              <a:buChar char="•"/>
            </a:pPr>
            <a:r>
              <a:rPr lang="en-US" dirty="0"/>
              <a:t>Reduce batch sizes </a:t>
            </a:r>
          </a:p>
          <a:p>
            <a:pPr marL="285750" lvl="0" indent="-285750">
              <a:buFont typeface="Arial" panose="020B0604020202020204" pitchFamily="34" charset="0"/>
              <a:buChar char="•"/>
            </a:pPr>
            <a:r>
              <a:rPr lang="en-US" dirty="0"/>
              <a:t>Remove constraints </a:t>
            </a:r>
          </a:p>
          <a:p>
            <a:pPr marL="285750" lvl="0" indent="-285750">
              <a:buFont typeface="Arial" panose="020B0604020202020204" pitchFamily="34" charset="0"/>
              <a:buChar char="•"/>
            </a:pPr>
            <a:r>
              <a:rPr lang="en-US" dirty="0"/>
              <a:t>Automate repetitive work </a:t>
            </a:r>
          </a:p>
          <a:p>
            <a:pPr marL="285750" lvl="0" indent="-285750">
              <a:buFont typeface="Arial" panose="020B0604020202020204" pitchFamily="34" charset="0"/>
              <a:buChar char="•"/>
            </a:pPr>
            <a:r>
              <a:rPr lang="en-US" dirty="0"/>
              <a:t>Improve handoffs </a:t>
            </a:r>
          </a:p>
          <a:p>
            <a:r>
              <a:rPr lang="en-US" b="1" dirty="0"/>
              <a:t>MEASURE</a:t>
            </a:r>
            <a:endParaRPr lang="en-US" dirty="0"/>
          </a:p>
          <a:p>
            <a:pPr marL="285750" lvl="0" indent="-285750">
              <a:buFont typeface="Arial" panose="020B0604020202020204" pitchFamily="34" charset="0"/>
              <a:buChar char="•"/>
            </a:pPr>
            <a:r>
              <a:rPr lang="en-US" dirty="0"/>
              <a:t>Lead time </a:t>
            </a:r>
          </a:p>
          <a:p>
            <a:pPr marL="285750" lvl="0" indent="-285750">
              <a:buFont typeface="Arial" panose="020B0604020202020204" pitchFamily="34" charset="0"/>
              <a:buChar char="•"/>
            </a:pPr>
            <a:r>
              <a:rPr lang="en-US" dirty="0"/>
              <a:t>Process time </a:t>
            </a:r>
          </a:p>
          <a:p>
            <a:pPr marL="285750" lvl="0" indent="-285750">
              <a:buFont typeface="Arial" panose="020B0604020202020204" pitchFamily="34" charset="0"/>
              <a:buChar char="•"/>
            </a:pPr>
            <a:r>
              <a:rPr lang="en-US" dirty="0"/>
              <a:t>Quality and reliability </a:t>
            </a:r>
          </a:p>
          <a:p>
            <a:pPr marL="285750" lvl="0" indent="-285750">
              <a:buFont typeface="Arial" panose="020B0604020202020204" pitchFamily="34" charset="0"/>
              <a:buChar char="•"/>
            </a:pPr>
            <a:r>
              <a:rPr lang="en-US" dirty="0"/>
              <a:t>Customer feedback </a:t>
            </a:r>
          </a:p>
          <a:p>
            <a:endParaRPr lang="en-US" dirty="0"/>
          </a:p>
        </p:txBody>
      </p:sp>
      <p:sp>
        <p:nvSpPr>
          <p:cNvPr id="5" name="TextBox 4">
            <a:extLst>
              <a:ext uri="{FF2B5EF4-FFF2-40B4-BE49-F238E27FC236}">
                <a16:creationId xmlns:a16="http://schemas.microsoft.com/office/drawing/2014/main" id="{4E24026D-8495-5B92-EADE-87BDDB697562}"/>
              </a:ext>
            </a:extLst>
          </p:cNvPr>
          <p:cNvSpPr txBox="1"/>
          <p:nvPr/>
        </p:nvSpPr>
        <p:spPr>
          <a:xfrm>
            <a:off x="420790" y="2540216"/>
            <a:ext cx="6097656" cy="1477328"/>
          </a:xfrm>
          <a:prstGeom prst="rect">
            <a:avLst/>
          </a:prstGeom>
          <a:noFill/>
        </p:spPr>
        <p:txBody>
          <a:bodyPr wrap="square">
            <a:spAutoFit/>
          </a:bodyPr>
          <a:lstStyle/>
          <a:p>
            <a:pPr>
              <a:buNone/>
            </a:pPr>
            <a:r>
              <a:rPr lang="en-US" dirty="0"/>
              <a:t>Mapping the technology value stream makes delays and constraints visible. DevOps teams can then target improvements, measure their effect on the entire system, and repeat the process rather than optimizing one step at the expense of another.</a:t>
            </a:r>
          </a:p>
        </p:txBody>
      </p:sp>
    </p:spTree>
    <p:extLst>
      <p:ext uri="{BB962C8B-B14F-4D97-AF65-F5344CB8AC3E}">
        <p14:creationId xmlns:p14="http://schemas.microsoft.com/office/powerpoint/2010/main" val="3175957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D90D-137B-6B3C-29C5-22F0C9F8218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918192D-1BE1-B690-8D7E-543DB68AB785}"/>
              </a:ext>
            </a:extLst>
          </p:cNvPr>
          <p:cNvSpPr>
            <a:spLocks noGrp="1"/>
          </p:cNvSpPr>
          <p:nvPr>
            <p:ph idx="1"/>
          </p:nvPr>
        </p:nvSpPr>
        <p:spPr/>
        <p:txBody>
          <a:bodyPr>
            <a:normAutofit/>
          </a:bodyPr>
          <a:lstStyle/>
          <a:p>
            <a:r>
              <a:rPr lang="en-US" sz="2000" b="1" dirty="0"/>
              <a:t>DevOps is a series of cycles and sub-cycles within the overall process. Each cycle creates opportunities for continuous learning and adaptation, improving the process while keeping development connected to business and customer feedback.</a:t>
            </a:r>
            <a:endParaRPr lang="en-US" sz="2000" dirty="0"/>
          </a:p>
          <a:p>
            <a:r>
              <a:rPr lang="en-US" sz="2000" i="1" dirty="0"/>
              <a:t>“You like this feature, but it also needs to capture X, Y, and Z? Okay, let’s make the change.”</a:t>
            </a:r>
            <a:endParaRPr lang="en-US" sz="2000" dirty="0"/>
          </a:p>
        </p:txBody>
      </p:sp>
    </p:spTree>
    <p:extLst>
      <p:ext uri="{BB962C8B-B14F-4D97-AF65-F5344CB8AC3E}">
        <p14:creationId xmlns:p14="http://schemas.microsoft.com/office/powerpoint/2010/main" val="2587471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31902-289C-EC61-82FA-2916041A71CC}"/>
              </a:ext>
            </a:extLst>
          </p:cNvPr>
          <p:cNvSpPr>
            <a:spLocks noGrp="1"/>
          </p:cNvSpPr>
          <p:nvPr>
            <p:ph type="title"/>
          </p:nvPr>
        </p:nvSpPr>
        <p:spPr>
          <a:xfrm>
            <a:off x="907808" y="1063814"/>
            <a:ext cx="9942409" cy="4094594"/>
          </a:xfrm>
        </p:spPr>
        <p:txBody>
          <a:bodyPr>
            <a:normAutofit/>
          </a:bodyPr>
          <a:lstStyle/>
          <a:p>
            <a:pPr algn="ctr"/>
            <a:br>
              <a:rPr lang="en-US" sz="4800" dirty="0"/>
            </a:br>
            <a:br>
              <a:rPr lang="en-US" sz="4800" dirty="0"/>
            </a:br>
            <a:br>
              <a:rPr lang="en-US" sz="4800" dirty="0"/>
            </a:br>
            <a:r>
              <a:rPr lang="en-US" sz="4800" dirty="0"/>
              <a:t>Questions?</a:t>
            </a:r>
          </a:p>
        </p:txBody>
      </p:sp>
    </p:spTree>
    <p:extLst>
      <p:ext uri="{BB962C8B-B14F-4D97-AF65-F5344CB8AC3E}">
        <p14:creationId xmlns:p14="http://schemas.microsoft.com/office/powerpoint/2010/main" val="2320190251"/>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docProps/app.xml><?xml version="1.0" encoding="utf-8"?>
<Properties xmlns="http://schemas.openxmlformats.org/officeDocument/2006/extended-properties" xmlns:vt="http://schemas.openxmlformats.org/officeDocument/2006/docPropsVTypes">
  <Template>Film Burn</Template>
  <TotalTime>1268</TotalTime>
  <Words>1083</Words>
  <Application>Microsoft Office PowerPoint</Application>
  <PresentationFormat>Widescreen</PresentationFormat>
  <Paragraphs>136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Neue Haas Grotesk Text Pro</vt:lpstr>
      <vt:lpstr>Film Burn</vt:lpstr>
      <vt:lpstr>The Technology Value Stream</vt:lpstr>
      <vt:lpstr>What is the Technology Value Stream</vt:lpstr>
      <vt:lpstr>Lead Time vs. Processing Time</vt:lpstr>
      <vt:lpstr>Inside the Technology Value Stream – Business Need</vt:lpstr>
      <vt:lpstr>Inside the Technology Value Stream – Plan</vt:lpstr>
      <vt:lpstr>Inside the Technology Value Stream – Develop</vt:lpstr>
      <vt:lpstr>Inside the Technology Value Stream – Integrate and Testing</vt:lpstr>
      <vt:lpstr>Inside the Technology Value Stream – Deploy</vt:lpstr>
      <vt:lpstr>Inside the Technology Value Stream – Customer &amp; Feedback</vt:lpstr>
      <vt:lpstr>From Months to Minutes: The DevOps Ideal</vt:lpstr>
      <vt:lpstr>Improving the Technology Value Stream</vt:lpstr>
      <vt:lpstr>Conclusion</vt:lpstr>
      <vt:lpstr>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lane dorscher</dc:creator>
  <cp:lastModifiedBy>lane dorscher</cp:lastModifiedBy>
  <cp:revision>5</cp:revision>
  <dcterms:created xsi:type="dcterms:W3CDTF">2026-09-12T01:55:27Z</dcterms:created>
  <dcterms:modified xsi:type="dcterms:W3CDTF">2026-09-12T23:04:55Z</dcterms:modified>
</cp:coreProperties>
</file>